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25" r:id="rId2"/>
    <p:sldId id="319" r:id="rId3"/>
    <p:sldId id="332" r:id="rId4"/>
    <p:sldId id="341" r:id="rId5"/>
    <p:sldId id="335" r:id="rId6"/>
    <p:sldId id="344" r:id="rId7"/>
    <p:sldId id="337" r:id="rId8"/>
    <p:sldId id="338" r:id="rId9"/>
    <p:sldId id="345" r:id="rId10"/>
    <p:sldId id="343" r:id="rId11"/>
    <p:sldId id="346" r:id="rId12"/>
    <p:sldId id="342" r:id="rId13"/>
  </p:sldIdLst>
  <p:sldSz cx="12192000" cy="6858000"/>
  <p:notesSz cx="9388475" cy="710247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F091A242-0C90-4440-9C3A-68CA48B14C97}">
          <p14:sldIdLst>
            <p14:sldId id="325"/>
          </p14:sldIdLst>
        </p14:section>
        <p14:section name="Часть 1 - Исследовательский анализ данных" id="{A396B710-EEA5-488B-8485-0C50155105B0}">
          <p14:sldIdLst>
            <p14:sldId id="319"/>
            <p14:sldId id="332"/>
            <p14:sldId id="341"/>
            <p14:sldId id="335"/>
          </p14:sldIdLst>
        </p14:section>
        <p14:section name="Часть 2 - Работа с моделями для прогноза" id="{D18A7611-9F95-47A1-A4AC-D8A5CA56405E}">
          <p14:sldIdLst>
            <p14:sldId id="344"/>
            <p14:sldId id="337"/>
            <p14:sldId id="338"/>
            <p14:sldId id="345"/>
            <p14:sldId id="343"/>
            <p14:sldId id="346"/>
            <p14:sldId id="3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396B"/>
    <a:srgbClr val="FFFFFF"/>
    <a:srgbClr val="001A72"/>
    <a:srgbClr val="9D9D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46F890A9-2807-4EBB-B81D-B2AA78EC7F39}" styleName="Темный стиль 2 — акцент 5/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Темный стиль 2 —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48"/>
  </p:normalViewPr>
  <p:slideViewPr>
    <p:cSldViewPr>
      <p:cViewPr varScale="1">
        <p:scale>
          <a:sx n="78" d="100"/>
          <a:sy n="78" d="100"/>
        </p:scale>
        <p:origin x="87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8763" cy="355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318125" y="0"/>
            <a:ext cx="4068763" cy="355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7FFA6-1C96-4E01-A524-AD4BE9C232D7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38213" y="3417888"/>
            <a:ext cx="7512050" cy="27971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746875"/>
            <a:ext cx="4068763" cy="355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318125" y="6746875"/>
            <a:ext cx="4068763" cy="355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1A4D12-6B14-4BB6-9605-2A946FA2D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055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1A4D12-6B14-4BB6-9605-2A946FA2D7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476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17074-3A97-B1B6-85FD-9E9B612F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19E9C7F-9C38-CE6C-5902-B46A60DEE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D3296F6-A29F-71AA-D599-CD56CA2F4C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358CC9-E290-F802-1C24-625F30433D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1A4D12-6B14-4BB6-9605-2A946FA2D75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678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16804" y="399288"/>
            <a:ext cx="10958390" cy="467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6667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6667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6804" y="1601723"/>
            <a:ext cx="3899535" cy="432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6667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2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6667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6667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9A180-04BD-4FE9-A8F1-0D103E2ED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325" y="3899102"/>
            <a:ext cx="9144000" cy="609398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defRPr sz="4000">
                <a:latin typeface="Arial Black" panose="020B0A040201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8040DFC-8EA9-4DB8-8F94-2EE6B3CFC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800" y="4689475"/>
            <a:ext cx="9144000" cy="2769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>
              <a:spcBef>
                <a:spcPts val="0"/>
              </a:spcBef>
              <a:buNone/>
              <a:defRPr sz="2000">
                <a:latin typeface="Arial Black" panose="020B0A040201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935BE05-7805-468D-99BC-638181175E13}"/>
              </a:ext>
            </a:extLst>
          </p:cNvPr>
          <p:cNvGrpSpPr/>
          <p:nvPr userDrawn="1"/>
        </p:nvGrpSpPr>
        <p:grpSpPr>
          <a:xfrm>
            <a:off x="694800" y="366607"/>
            <a:ext cx="3840763" cy="1112520"/>
            <a:chOff x="840419" y="366607"/>
            <a:chExt cx="3840763" cy="1112520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C0377314-8CCB-4337-B717-924AAA1CAD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0419" y="366607"/>
              <a:ext cx="1219200" cy="1112520"/>
            </a:xfrm>
            <a:prstGeom prst="rect">
              <a:avLst/>
            </a:prstGeom>
          </p:spPr>
        </p:pic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038D80D8-13A0-4951-9BFF-66A796B34F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53273" y="463411"/>
              <a:ext cx="2327909" cy="459456"/>
            </a:xfrm>
            <a:prstGeom prst="rect">
              <a:avLst/>
            </a:prstGeom>
          </p:spPr>
        </p:pic>
      </p:grpSp>
      <p:sp>
        <p:nvSpPr>
          <p:cNvPr id="10" name="Текст 9">
            <a:extLst>
              <a:ext uri="{FF2B5EF4-FFF2-40B4-BE49-F238E27FC236}">
                <a16:creationId xmlns:a16="http://schemas.microsoft.com/office/drawing/2014/main" id="{04E1D71F-8ED3-4088-BE3E-87F469552B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5325" y="5589588"/>
            <a:ext cx="9180513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spcBef>
                <a:spcPts val="0"/>
              </a:spcBef>
              <a:defRPr lang="ru-RU" sz="1600" smtClean="0">
                <a:latin typeface="Arial Black" panose="020B0A04020102020204" pitchFamily="34" charset="0"/>
              </a:defRPr>
            </a:lvl1pPr>
            <a:lvl2pPr>
              <a:defRPr lang="ru-RU" sz="2000" smtClean="0"/>
            </a:lvl2pPr>
            <a:lvl3pPr>
              <a:defRPr lang="ru-RU" sz="1800" smtClean="0"/>
            </a:lvl3pPr>
            <a:lvl4pPr>
              <a:defRPr lang="ru-RU" sz="1600" smtClean="0"/>
            </a:lvl4pPr>
            <a:lvl5pPr>
              <a:defRPr lang="ru-RU" sz="1600"/>
            </a:lvl5pPr>
          </a:lstStyle>
          <a:p>
            <a:pPr marL="0" lvl="0" indent="0">
              <a:buNone/>
            </a:pPr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423436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orient="horz" pos="2840">
          <p15:clr>
            <a:srgbClr val="FBAE40"/>
          </p15:clr>
        </p15:guide>
        <p15:guide id="3" orient="horz" pos="2954">
          <p15:clr>
            <a:srgbClr val="FBAE40"/>
          </p15:clr>
        </p15:guide>
        <p15:guide id="4" orient="horz" pos="3521">
          <p15:clr>
            <a:srgbClr val="FBAE40"/>
          </p15:clr>
        </p15:guide>
        <p15:guide id="5" pos="622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B78863-D2C6-49FB-A513-C9D5A7A56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56950"/>
            <a:ext cx="10800000" cy="424732"/>
          </a:xfrm>
        </p:spPr>
        <p:txBody>
          <a:bodyPr wrap="square" anchor="t" anchorCtr="0">
            <a:spAutoFit/>
          </a:bodyPr>
          <a:lstStyle>
            <a:lvl1pPr>
              <a:defRPr sz="2400" b="1"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31EDE0-D4C7-4590-9540-D50E9BF370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000" y="6356350"/>
            <a:ext cx="2743200" cy="365125"/>
          </a:xfrm>
        </p:spPr>
        <p:txBody>
          <a:bodyPr/>
          <a:lstStyle/>
          <a:p>
            <a:fld id="{D756EEEF-A3F2-4D69-BEF5-E91F8C16B464}" type="datetime1">
              <a:rPr lang="ru-RU" smtClean="0"/>
              <a:t>31.05.2026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B144E0-860B-4E0B-8B81-692CBA4C5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62600" y="6356350"/>
            <a:ext cx="41148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99B569-D76A-4313-8571-521E39E2528C}"/>
              </a:ext>
            </a:extLst>
          </p:cNvPr>
          <p:cNvSpPr txBox="1"/>
          <p:nvPr userDrawn="1"/>
        </p:nvSpPr>
        <p:spPr>
          <a:xfrm>
            <a:off x="5638800" y="297357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/>
          </a:p>
        </p:txBody>
      </p:sp>
      <p:sp>
        <p:nvSpPr>
          <p:cNvPr id="13" name="Номер слайда 10">
            <a:extLst>
              <a:ext uri="{FF2B5EF4-FFF2-40B4-BE49-F238E27FC236}">
                <a16:creationId xmlns:a16="http://schemas.microsoft.com/office/drawing/2014/main" id="{9D48F02D-5B13-44C9-8583-049FB7F615A4}"/>
              </a:ext>
            </a:extLst>
          </p:cNvPr>
          <p:cNvSpPr txBox="1">
            <a:spLocks/>
          </p:cNvSpPr>
          <p:nvPr userDrawn="1"/>
        </p:nvSpPr>
        <p:spPr>
          <a:xfrm>
            <a:off x="8776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0629FD-3C3D-4918-AD11-4A079B9C1067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8" name="Объект 7">
            <a:extLst>
              <a:ext uri="{FF2B5EF4-FFF2-40B4-BE49-F238E27FC236}">
                <a16:creationId xmlns:a16="http://schemas.microsoft.com/office/drawing/2014/main" id="{4D168798-B82A-4C50-BEBA-B43F3B60435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20000" y="1440000"/>
            <a:ext cx="10800000" cy="4351338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048037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2473" y="2198115"/>
            <a:ext cx="10887052" cy="1193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3888" y="1980460"/>
            <a:ext cx="11022965" cy="3978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38975" y="6153403"/>
            <a:ext cx="261620" cy="208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F7F7F"/>
                </a:solidFill>
                <a:latin typeface="Tahoma"/>
                <a:cs typeface="Tahoma"/>
              </a:defRPr>
            </a:lvl1pPr>
          </a:lstStyle>
          <a:p>
            <a:pPr marL="66675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ikssssa/budget-revenues-analysis/blob/main/README.md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25E9D5-04E2-5B04-FB5F-9996C287839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lumMod val="7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34400" y="3895344"/>
            <a:ext cx="3657600" cy="296265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4FDE784-A506-0297-1E3B-780B418C5BF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lumMod val="7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1617341"/>
            <a:ext cx="12192000" cy="355158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81000" y="1689078"/>
            <a:ext cx="6096000" cy="2045816"/>
          </a:xfrm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lang="ru-RU" sz="3200" dirty="0">
                <a:solidFill>
                  <a:schemeClr val="accent2">
                    <a:lumMod val="75000"/>
                  </a:schemeClr>
                </a:solidFill>
                <a:latin typeface="Univers" panose="020B0503020202020204" pitchFamily="34" charset="0"/>
                <a:cs typeface="Mongolian Baiti" panose="03000500000000000000" pitchFamily="66" charset="0"/>
              </a:rPr>
              <a:t>Итоговый проект </a:t>
            </a:r>
            <a:br>
              <a:rPr lang="ru-RU" sz="3200" dirty="0">
                <a:latin typeface="Univers" panose="020B0503020202020204" pitchFamily="34" charset="0"/>
                <a:cs typeface="Mongolian Baiti" panose="03000500000000000000" pitchFamily="66" charset="0"/>
              </a:rPr>
            </a:br>
            <a:r>
              <a:rPr lang="ru-RU" sz="2400" dirty="0">
                <a:solidFill>
                  <a:schemeClr val="accent4">
                    <a:lumMod val="50000"/>
                  </a:schemeClr>
                </a:solidFill>
                <a:latin typeface="Univers" panose="020B0503020202020204" pitchFamily="34" charset="0"/>
                <a:cs typeface="Mongolian Baiti" panose="03000500000000000000" pitchFamily="66" charset="0"/>
              </a:rPr>
              <a:t>по дополнительной профессиональной программе переподготовки</a:t>
            </a:r>
            <a:br>
              <a:rPr lang="en-US" sz="2400" dirty="0">
                <a:solidFill>
                  <a:schemeClr val="accent4">
                    <a:lumMod val="50000"/>
                  </a:schemeClr>
                </a:solidFill>
                <a:latin typeface="Univers" panose="020B0503020202020204" pitchFamily="34" charset="0"/>
                <a:cs typeface="Mongolian Baiti" panose="03000500000000000000" pitchFamily="66" charset="0"/>
              </a:rPr>
            </a:br>
            <a:r>
              <a:rPr lang="ru-RU" sz="2400" dirty="0">
                <a:solidFill>
                  <a:schemeClr val="accent4">
                    <a:lumMod val="50000"/>
                  </a:schemeClr>
                </a:solidFill>
                <a:latin typeface="Univers" panose="020B0503020202020204" pitchFamily="34" charset="0"/>
                <a:cs typeface="Mongolian Baiti" panose="03000500000000000000" pitchFamily="66" charset="0"/>
              </a:rPr>
              <a:t>«Прикладной анализ данных </a:t>
            </a:r>
            <a:br>
              <a:rPr lang="ru-RU" sz="2400" dirty="0">
                <a:solidFill>
                  <a:schemeClr val="accent4">
                    <a:lumMod val="50000"/>
                  </a:schemeClr>
                </a:solidFill>
                <a:latin typeface="Univers" panose="020B0503020202020204" pitchFamily="34" charset="0"/>
                <a:cs typeface="Mongolian Baiti" panose="03000500000000000000" pitchFamily="66" charset="0"/>
              </a:rPr>
            </a:br>
            <a:r>
              <a:rPr lang="ru-RU" sz="2400" dirty="0">
                <a:solidFill>
                  <a:schemeClr val="accent4">
                    <a:lumMod val="50000"/>
                  </a:schemeClr>
                </a:solidFill>
                <a:latin typeface="Univers" panose="020B0503020202020204" pitchFamily="34" charset="0"/>
                <a:cs typeface="Mongolian Baiti" panose="03000500000000000000" pitchFamily="66" charset="0"/>
              </a:rPr>
              <a:t>в экономике, финансах и управлении»</a:t>
            </a:r>
            <a:endParaRPr lang="ru-RU" sz="3200" b="1" dirty="0">
              <a:solidFill>
                <a:schemeClr val="accent4">
                  <a:lumMod val="50000"/>
                </a:schemeClr>
              </a:solidFill>
              <a:latin typeface="Univers" panose="020B0503020202020204" pitchFamily="34" charset="0"/>
            </a:endParaRP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6FD73BD3-14EB-4DAF-A505-1E170BEB3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367130"/>
            <a:ext cx="9144000" cy="430887"/>
          </a:xfrm>
        </p:spPr>
        <p:txBody>
          <a:bodyPr/>
          <a:lstStyle/>
          <a:p>
            <a:r>
              <a:rPr lang="ru-RU" sz="2800" b="1" dirty="0">
                <a:solidFill>
                  <a:schemeClr val="accent4">
                    <a:lumMod val="50000"/>
                  </a:schemeClr>
                </a:solidFill>
                <a:latin typeface="Univers" panose="020B0503020202020204" pitchFamily="34" charset="0"/>
              </a:rPr>
              <a:t>Каменская Виктория Артуровна</a:t>
            </a:r>
            <a:endParaRPr lang="en-US" sz="2800" b="1" dirty="0">
              <a:solidFill>
                <a:schemeClr val="accent4">
                  <a:lumMod val="50000"/>
                </a:schemeClr>
              </a:solidFill>
              <a:latin typeface="Univers" panose="020B0503020202020204" pitchFamily="34" charset="0"/>
            </a:endParaRP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D97E9275-9113-FD4B-BBB4-BECF39AE0EB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A522A3-4B12-F3E3-44A6-405CBBB05CB1}"/>
              </a:ext>
            </a:extLst>
          </p:cNvPr>
          <p:cNvSpPr txBox="1"/>
          <p:nvPr/>
        </p:nvSpPr>
        <p:spPr>
          <a:xfrm>
            <a:off x="11201400" y="632460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4">
                    <a:lumMod val="50000"/>
                  </a:schemeClr>
                </a:solidFill>
                <a:latin typeface="Univers" panose="020B0503020202020204" pitchFamily="34" charset="0"/>
              </a:rPr>
              <a:t>2026</a:t>
            </a:r>
            <a:endParaRPr lang="en-US" sz="2400" b="1" dirty="0">
              <a:solidFill>
                <a:schemeClr val="accent4">
                  <a:lumMod val="50000"/>
                </a:schemeClr>
              </a:solidFill>
              <a:latin typeface="Univers" panose="020B0503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031CFC-CF80-4592-7EC3-E0A71503B774}"/>
              </a:ext>
            </a:extLst>
          </p:cNvPr>
          <p:cNvSpPr txBox="1"/>
          <p:nvPr/>
        </p:nvSpPr>
        <p:spPr>
          <a:xfrm>
            <a:off x="342901" y="3806631"/>
            <a:ext cx="6629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75000"/>
                  </a:schemeClr>
                </a:solidFill>
                <a:latin typeface="Univers" panose="020B0503020202020204" pitchFamily="34" charset="0"/>
              </a:rPr>
              <a:t>Анализ и прогнозирование доходов бюджета г. Москвы на основе открытых данных (портал data.mos.ru)</a:t>
            </a:r>
          </a:p>
        </p:txBody>
      </p:sp>
    </p:spTree>
    <p:extLst>
      <p:ext uri="{BB962C8B-B14F-4D97-AF65-F5344CB8AC3E}">
        <p14:creationId xmlns:p14="http://schemas.microsoft.com/office/powerpoint/2010/main" val="11584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2F9D727-5DF1-D0C4-1C98-0D81C4BD57C6}"/>
              </a:ext>
            </a:extLst>
          </p:cNvPr>
          <p:cNvSpPr/>
          <p:nvPr/>
        </p:nvSpPr>
        <p:spPr>
          <a:xfrm>
            <a:off x="0" y="3628011"/>
            <a:ext cx="12192000" cy="29623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CFB222F-DA59-47A8-B420-D6661AF61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46960"/>
            <a:ext cx="7924800" cy="1107996"/>
          </a:xfrm>
        </p:spPr>
        <p:txBody>
          <a:bodyPr/>
          <a:lstStyle/>
          <a:p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Univers" panose="020B0503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Датасет 1 - К</a:t>
            </a: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nivers" panose="020B0503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раткая характеристика предметной области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nivers" panose="020B0503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nivers" panose="020B0503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постановка задачи исследовательского анализа данных в предметной области</a:t>
            </a:r>
            <a:endParaRPr lang="ru-RU" dirty="0">
              <a:solidFill>
                <a:schemeClr val="tx1">
                  <a:lumMod val="85000"/>
                  <a:lumOff val="15000"/>
                </a:schemeClr>
              </a:solidFill>
              <a:latin typeface="Univers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Заголовок 5">
            <a:extLst>
              <a:ext uri="{FF2B5EF4-FFF2-40B4-BE49-F238E27FC236}">
                <a16:creationId xmlns:a16="http://schemas.microsoft.com/office/drawing/2014/main" id="{7A881093-07F9-4454-B685-5E7325975AA6}"/>
              </a:ext>
            </a:extLst>
          </p:cNvPr>
          <p:cNvSpPr txBox="1">
            <a:spLocks/>
          </p:cNvSpPr>
          <p:nvPr/>
        </p:nvSpPr>
        <p:spPr>
          <a:xfrm>
            <a:off x="8153400" y="346960"/>
            <a:ext cx="3787124" cy="962120"/>
          </a:xfrm>
          <a:prstGeom prst="roundRect">
            <a:avLst>
              <a:gd name="adj" fmla="val 22536"/>
            </a:avLst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ru-RU" sz="1800" dirty="0">
                <a:latin typeface="Univers" panose="020B0503020202020204" pitchFamily="34" charset="0"/>
              </a:rPr>
              <a:t>ДПП ПП «Прикладной анализ данных в экономике, финансах и управлении»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5939053-6AFB-A9AC-EDEB-61297371EAC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33400" y="1635472"/>
            <a:ext cx="11483324" cy="1846659"/>
          </a:xfrm>
        </p:spPr>
        <p:txBody>
          <a:bodyPr/>
          <a:lstStyle/>
          <a:p>
            <a:r>
              <a:rPr lang="ru-RU" sz="2400" b="1" dirty="0">
                <a:solidFill>
                  <a:schemeClr val="accent4">
                    <a:lumMod val="75000"/>
                  </a:schemeClr>
                </a:solidFill>
                <a:latin typeface="Univers" panose="020B0503020202020204" pitchFamily="34" charset="0"/>
              </a:rPr>
              <a:t>Предметная область:</a:t>
            </a:r>
          </a:p>
          <a:p>
            <a:r>
              <a:rPr lang="ru-RU" sz="2400" dirty="0">
                <a:solidFill>
                  <a:schemeClr val="accent4">
                    <a:lumMod val="75000"/>
                  </a:schemeClr>
                </a:solidFill>
                <a:latin typeface="Univers" panose="020B0503020202020204" pitchFamily="34" charset="0"/>
              </a:rPr>
              <a:t>Бюджет города Москвы, доходная часть. Данные содержат поквартальные плановые и фактические объёмы по видам доходов (налоги, неналоговые поступления, штрафы, аренда и др.) за период с 1 квартала 2024 по 2 квартал 2026.</a:t>
            </a:r>
            <a:endParaRPr lang="ru-RU" sz="2400" dirty="0">
              <a:solidFill>
                <a:schemeClr val="accent4">
                  <a:lumMod val="50000"/>
                </a:schemeClr>
              </a:solidFill>
              <a:latin typeface="Univers" panose="020B05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B71D33-43F5-A721-B7FD-E465D5973050}"/>
              </a:ext>
            </a:extLst>
          </p:cNvPr>
          <p:cNvSpPr txBox="1"/>
          <p:nvPr/>
        </p:nvSpPr>
        <p:spPr>
          <a:xfrm>
            <a:off x="457200" y="3815450"/>
            <a:ext cx="115595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75000"/>
                  </a:schemeClr>
                </a:solidFill>
                <a:latin typeface="Univers" panose="020B0503020202020204" pitchFamily="34" charset="0"/>
              </a:rPr>
              <a:t>Постановка задачи исследовательского анализа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Univers" panose="020B0503020202020204" pitchFamily="34" charset="0"/>
              </a:rPr>
              <a:t>о</a:t>
            </a:r>
            <a:r>
              <a:rPr lang="en-US" sz="2400" dirty="0">
                <a:latin typeface="Univers" panose="020B0503020202020204" pitchFamily="34" charset="0"/>
              </a:rPr>
              <a:t>чистить данные от служебных строк и артефактов</a:t>
            </a:r>
            <a:r>
              <a:rPr lang="ru-RU" sz="2400" dirty="0">
                <a:latin typeface="Univers" panose="020B0503020202020204" pitchFamily="34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Univers" panose="020B0503020202020204" pitchFamily="34" charset="0"/>
              </a:rPr>
              <a:t>привести типы к корректным</a:t>
            </a:r>
            <a:r>
              <a:rPr lang="ru-RU" sz="2400" dirty="0">
                <a:latin typeface="Univers" panose="020B0503020202020204" pitchFamily="34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Univers" panose="020B0503020202020204" pitchFamily="34" charset="0"/>
              </a:rPr>
              <a:t>выявить основные статистические закономерности (сезонность, тренд, корреляцию план</a:t>
            </a:r>
            <a:r>
              <a:rPr lang="ru-RU" sz="2400" dirty="0">
                <a:latin typeface="Univers" panose="020B0503020202020204" pitchFamily="34" charset="0"/>
              </a:rPr>
              <a:t>-</a:t>
            </a:r>
            <a:r>
              <a:rPr lang="en-US" sz="2400" dirty="0">
                <a:latin typeface="Univers" panose="020B0503020202020204" pitchFamily="34" charset="0"/>
              </a:rPr>
              <a:t>факт)</a:t>
            </a:r>
            <a:r>
              <a:rPr lang="ru-RU" sz="2400" dirty="0">
                <a:latin typeface="Univers" panose="020B0503020202020204" pitchFamily="34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Univers" panose="020B0503020202020204" pitchFamily="34" charset="0"/>
              </a:rPr>
              <a:t>определить ключевые виды доходов для дальнейшего прогнозирования.</a:t>
            </a:r>
            <a:endParaRPr lang="ru-RU" sz="2400" dirty="0">
              <a:latin typeface="Univers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681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CFB222F-DA59-47A8-B420-D6661AF61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46960"/>
            <a:ext cx="7620000" cy="1107996"/>
          </a:xfrm>
        </p:spPr>
        <p:txBody>
          <a:bodyPr/>
          <a:lstStyle/>
          <a:p>
            <a:r>
              <a:rPr lang="ru-RU" dirty="0">
                <a:latin typeface="Univers" panose="020B0503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Датасет 1 - Примененные в ходе выполнения проекта инструменты исследовательского анализа данных</a:t>
            </a:r>
            <a:endParaRPr lang="ru-RU" dirty="0">
              <a:latin typeface="Univers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5939053-6AFB-A9AC-EDEB-61297371EAC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33400" y="1690560"/>
            <a:ext cx="10800000" cy="369332"/>
          </a:xfrm>
        </p:spPr>
        <p:txBody>
          <a:bodyPr/>
          <a:lstStyle/>
          <a:p>
            <a:r>
              <a:rPr lang="ru-RU" sz="2400" b="1" dirty="0">
                <a:solidFill>
                  <a:schemeClr val="accent2">
                    <a:lumMod val="75000"/>
                  </a:schemeClr>
                </a:solidFill>
                <a:latin typeface="Univers" panose="020B0503020202020204" pitchFamily="34" charset="0"/>
              </a:rPr>
              <a:t>Инструментальные средства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Univers" panose="020B0503020202020204" pitchFamily="34" charset="0"/>
              </a:rPr>
              <a:t>Python:</a:t>
            </a:r>
            <a:endParaRPr lang="ru-RU" sz="2400" b="1" i="1" dirty="0">
              <a:solidFill>
                <a:schemeClr val="accent2">
                  <a:lumMod val="75000"/>
                </a:schemeClr>
              </a:solidFill>
              <a:latin typeface="Univers" panose="020B0503020202020204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04FA2267-046C-60C0-259A-26A845467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978691"/>
              </p:ext>
            </p:extLst>
          </p:nvPr>
        </p:nvGraphicFramePr>
        <p:xfrm>
          <a:off x="1066800" y="2519595"/>
          <a:ext cx="10058400" cy="365760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3586860763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1337866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Univers Light" panose="020B0403020202020204" pitchFamily="34" charset="0"/>
                        </a:rPr>
                        <a:t>Категория</a:t>
                      </a:r>
                      <a:endParaRPr lang="en-US" sz="2400" dirty="0">
                        <a:latin typeface="Univers Light" panose="020B04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Univers Light" panose="020B0403020202020204" pitchFamily="34" charset="0"/>
                        </a:rPr>
                        <a:t>Инструменты</a:t>
                      </a:r>
                      <a:endParaRPr lang="en-US" sz="2400" dirty="0">
                        <a:latin typeface="Univers Light" panose="020B04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790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Univers Light" panose="020B0403020202020204" pitchFamily="34" charset="0"/>
                        </a:rPr>
                        <a:t>Среда разработки</a:t>
                      </a:r>
                      <a:endParaRPr lang="en-US" sz="2400" dirty="0">
                        <a:latin typeface="Univers Light" panose="020B0403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Univers Light" panose="020B0403020202020204" pitchFamily="34" charset="0"/>
                        </a:rPr>
                        <a:t>Google </a:t>
                      </a:r>
                      <a:r>
                        <a:rPr lang="en-US" sz="2400" dirty="0" err="1">
                          <a:latin typeface="Univers Light" panose="020B0403020202020204" pitchFamily="34" charset="0"/>
                        </a:rPr>
                        <a:t>Colab</a:t>
                      </a:r>
                      <a:endParaRPr lang="en-US" sz="2400" dirty="0">
                        <a:latin typeface="Univers Light" panose="020B0403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48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Univers Light" panose="020B0403020202020204" pitchFamily="34" charset="0"/>
                        </a:rPr>
                        <a:t>Библиотеки Python для анализа и визуализации данных</a:t>
                      </a:r>
                      <a:endParaRPr lang="en-US" sz="2400" dirty="0">
                        <a:latin typeface="Univers Light" panose="020B0403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Univers Light" panose="020B0403020202020204" pitchFamily="34" charset="0"/>
                        </a:rPr>
                        <a:t>Pandas, NumPy, Matplotlib, Seaborn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607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Univers Light" panose="020B0403020202020204" pitchFamily="34" charset="0"/>
                        </a:rPr>
                        <a:t>Прочие средства</a:t>
                      </a:r>
                      <a:endParaRPr lang="en-US" sz="2400" dirty="0">
                        <a:latin typeface="Univers Light" panose="020B0403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solidFill>
                            <a:schemeClr val="dk1"/>
                          </a:solidFill>
                          <a:effectLst/>
                          <a:latin typeface="Univers Light" panose="020B0403020202020204" pitchFamily="34" charset="0"/>
                          <a:ea typeface="+mn-ea"/>
                          <a:cs typeface="+mn-cs"/>
                        </a:rPr>
                        <a:t>встроенные средства pandas для группировки и агрегации</a:t>
                      </a:r>
                      <a:r>
                        <a:rPr lang="ru-RU" sz="2400" b="0" i="0" dirty="0">
                          <a:solidFill>
                            <a:schemeClr val="dk1"/>
                          </a:solidFill>
                          <a:effectLst/>
                          <a:latin typeface="Univers Light" panose="020B0403020202020204" pitchFamily="34" charset="0"/>
                          <a:ea typeface="+mn-ea"/>
                          <a:cs typeface="+mn-cs"/>
                        </a:rPr>
                        <a:t>; </a:t>
                      </a:r>
                      <a:r>
                        <a:rPr lang="en-US" sz="2400" b="0" i="0" dirty="0">
                          <a:solidFill>
                            <a:schemeClr val="dk1"/>
                          </a:solidFill>
                          <a:effectLst/>
                          <a:latin typeface="Univers Light" panose="020B0403020202020204" pitchFamily="34" charset="0"/>
                          <a:ea typeface="+mn-ea"/>
                          <a:cs typeface="+mn-cs"/>
                        </a:rPr>
                        <a:t>re (регулярные выражения для очистки), statsmodels (декомпозиция, автокорреляция)</a:t>
                      </a:r>
                      <a:endParaRPr lang="en-US" sz="2400" dirty="0">
                        <a:latin typeface="Univers Light" panose="020B0403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346440"/>
                  </a:ext>
                </a:extLst>
              </a:tr>
            </a:tbl>
          </a:graphicData>
        </a:graphic>
      </p:graphicFrame>
      <p:sp>
        <p:nvSpPr>
          <p:cNvPr id="7" name="Заголовок 5">
            <a:extLst>
              <a:ext uri="{FF2B5EF4-FFF2-40B4-BE49-F238E27FC236}">
                <a16:creationId xmlns:a16="http://schemas.microsoft.com/office/drawing/2014/main" id="{6D31C627-5DBF-D4F8-BE3C-87CAE2B8825C}"/>
              </a:ext>
            </a:extLst>
          </p:cNvPr>
          <p:cNvSpPr txBox="1">
            <a:spLocks/>
          </p:cNvSpPr>
          <p:nvPr/>
        </p:nvSpPr>
        <p:spPr>
          <a:xfrm>
            <a:off x="8153400" y="346960"/>
            <a:ext cx="3787124" cy="962120"/>
          </a:xfrm>
          <a:prstGeom prst="roundRect">
            <a:avLst>
              <a:gd name="adj" fmla="val 22536"/>
            </a:avLst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ru-RU" sz="1800" dirty="0">
                <a:latin typeface="Univers" panose="020B0503020202020204" pitchFamily="34" charset="0"/>
              </a:rPr>
              <a:t>ДПП ПП «Прикладной анализ данных в экономике, финансах и управлении»</a:t>
            </a:r>
          </a:p>
        </p:txBody>
      </p:sp>
    </p:spTree>
    <p:extLst>
      <p:ext uri="{BB962C8B-B14F-4D97-AF65-F5344CB8AC3E}">
        <p14:creationId xmlns:p14="http://schemas.microsoft.com/office/powerpoint/2010/main" val="147525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EBAA3-EFA3-6F0A-CE78-D073B634C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D5AF6B5-4B46-9B21-FB09-3E003F81E804}"/>
              </a:ext>
            </a:extLst>
          </p:cNvPr>
          <p:cNvSpPr/>
          <p:nvPr/>
        </p:nvSpPr>
        <p:spPr>
          <a:xfrm>
            <a:off x="533400" y="1371600"/>
            <a:ext cx="11658600" cy="5486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Заголовок 5">
            <a:extLst>
              <a:ext uri="{FF2B5EF4-FFF2-40B4-BE49-F238E27FC236}">
                <a16:creationId xmlns:a16="http://schemas.microsoft.com/office/drawing/2014/main" id="{D50E1BEC-86D0-ED11-FC14-41E0CC1DE35E}"/>
              </a:ext>
            </a:extLst>
          </p:cNvPr>
          <p:cNvSpPr txBox="1">
            <a:spLocks/>
          </p:cNvSpPr>
          <p:nvPr/>
        </p:nvSpPr>
        <p:spPr>
          <a:xfrm>
            <a:off x="533400" y="173676"/>
            <a:ext cx="7772400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r>
              <a:rPr lang="ru-RU" sz="2400" dirty="0">
                <a:latin typeface="Univers" panose="020B0503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Датасет 1 - </a:t>
            </a:r>
            <a:r>
              <a:rPr lang="ru-RU" sz="2400" kern="0" dirty="0">
                <a:latin typeface="Univers" panose="020B0503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Результаты исследовательского анализа данных, их практическая интерпретация (с иллюстрациями)</a:t>
            </a:r>
            <a:endParaRPr lang="ru-RU" sz="2400" kern="0" dirty="0">
              <a:latin typeface="Univers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Заголовок 5">
            <a:extLst>
              <a:ext uri="{FF2B5EF4-FFF2-40B4-BE49-F238E27FC236}">
                <a16:creationId xmlns:a16="http://schemas.microsoft.com/office/drawing/2014/main" id="{12C1B448-8A67-3B49-6507-F088D3DA5F23}"/>
              </a:ext>
            </a:extLst>
          </p:cNvPr>
          <p:cNvSpPr txBox="1">
            <a:spLocks/>
          </p:cNvSpPr>
          <p:nvPr/>
        </p:nvSpPr>
        <p:spPr>
          <a:xfrm>
            <a:off x="8305800" y="173676"/>
            <a:ext cx="3787124" cy="962120"/>
          </a:xfrm>
          <a:prstGeom prst="roundRect">
            <a:avLst>
              <a:gd name="adj" fmla="val 22536"/>
            </a:avLst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ru-RU" sz="1800" dirty="0">
                <a:latin typeface="Univers" panose="020B0503020202020204" pitchFamily="34" charset="0"/>
              </a:rPr>
              <a:t>ДПП ПП «Прикладной анализ данных в экономике, финансах и управлении»</a:t>
            </a:r>
          </a:p>
        </p:txBody>
      </p:sp>
      <p:pic>
        <p:nvPicPr>
          <p:cNvPr id="18" name="Объект 17">
            <a:extLst>
              <a:ext uri="{FF2B5EF4-FFF2-40B4-BE49-F238E27FC236}">
                <a16:creationId xmlns:a16="http://schemas.microsoft.com/office/drawing/2014/main" id="{BCAC5688-2FB2-AA88-6B8D-041C23BAEC3B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865" y="3132512"/>
            <a:ext cx="5334000" cy="28103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A046185-C24A-DD9E-133F-8CC4B0E85107}"/>
              </a:ext>
            </a:extLst>
          </p:cNvPr>
          <p:cNvSpPr txBox="1"/>
          <p:nvPr/>
        </p:nvSpPr>
        <p:spPr>
          <a:xfrm>
            <a:off x="685800" y="1455131"/>
            <a:ext cx="112776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accent2">
                    <a:lumMod val="75000"/>
                  </a:schemeClr>
                </a:solidFill>
                <a:latin typeface="Univers" panose="020B0503020202020204" pitchFamily="34" charset="0"/>
              </a:rPr>
              <a:t>Результаты:</a:t>
            </a:r>
          </a:p>
          <a:p>
            <a:r>
              <a:rPr lang="ru-RU" sz="1600" dirty="0">
                <a:latin typeface="Univers Light" panose="020B0403020202020204" pitchFamily="34" charset="0"/>
              </a:rPr>
              <a:t>После очистки получен датасет из 702 строк, 7 столбцов (добавлен квартал). Диапазон дат: Q1 2024 – Q2 2026.</a:t>
            </a:r>
          </a:p>
          <a:p>
            <a:r>
              <a:rPr lang="ru-RU" sz="1600" dirty="0">
                <a:latin typeface="Univers Light" panose="020B0403020202020204" pitchFamily="34" charset="0"/>
              </a:rPr>
              <a:t>Корреляция Пирсона между плановыми и фактическими объёмами (по детальным доходам) составила 0,86 – сильная положительная связь.</a:t>
            </a:r>
          </a:p>
          <a:p>
            <a:r>
              <a:rPr lang="ru-RU" sz="1600" dirty="0">
                <a:latin typeface="Univers Light" panose="020B0403020202020204" pitchFamily="34" charset="0"/>
              </a:rPr>
              <a:t>Топ‑10 детальных видов доходов (без агрегированных строк): лидируют НДФЛ, налог на прибыль организаций, налог на имущество организаций, акцизы, налог по УСН, налог на профессиональный </a:t>
            </a:r>
            <a:r>
              <a:rPr lang="ru-RU" dirty="0">
                <a:latin typeface="Univers Light" panose="020B0403020202020204" pitchFamily="34" charset="0"/>
              </a:rPr>
              <a:t>доход, торговый сбор и др.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AC94889-0061-3841-467F-228FAD82D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75"/>
          <a:stretch>
            <a:fillRect/>
          </a:stretch>
        </p:blipFill>
        <p:spPr>
          <a:xfrm>
            <a:off x="647700" y="3132513"/>
            <a:ext cx="5791200" cy="281034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43CAC88-D6FC-7909-C471-4DA3C336222F}"/>
              </a:ext>
            </a:extLst>
          </p:cNvPr>
          <p:cNvSpPr txBox="1"/>
          <p:nvPr/>
        </p:nvSpPr>
        <p:spPr>
          <a:xfrm>
            <a:off x="607141" y="5942855"/>
            <a:ext cx="113734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Univers Light" panose="020B0403020202020204" pitchFamily="34" charset="0"/>
              </a:rPr>
              <a:t>Высокая корреляция план-факт говорит о реалистичном планировании. Сезонность связана с налоговыми периодами (НДФЛ и налог на прибыль поступают преимущественно в начале года). Топ‑10 показывает основные источники наполнения бюджета – прямые налоги.</a:t>
            </a:r>
          </a:p>
        </p:txBody>
      </p:sp>
    </p:spTree>
    <p:extLst>
      <p:ext uri="{BB962C8B-B14F-4D97-AF65-F5344CB8AC3E}">
        <p14:creationId xmlns:p14="http://schemas.microsoft.com/office/powerpoint/2010/main" val="3781093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CFB222F-DA59-47A8-B420-D6661AF61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29074"/>
            <a:ext cx="7924800" cy="738664"/>
          </a:xfrm>
        </p:spPr>
        <p:txBody>
          <a:bodyPr/>
          <a:lstStyle/>
          <a:p>
            <a:r>
              <a:rPr lang="ru-RU" dirty="0">
                <a:latin typeface="Univers" panose="020B0503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Датасет 1 - Выводы о практической значимости полученных результатов, что еще можно сделать</a:t>
            </a:r>
            <a:endParaRPr lang="ru-RU" dirty="0">
              <a:latin typeface="Univers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5939053-6AFB-A9AC-EDEB-61297371EAC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81000" y="1250097"/>
            <a:ext cx="11811000" cy="369332"/>
          </a:xfrm>
        </p:spPr>
        <p:txBody>
          <a:bodyPr/>
          <a:lstStyle/>
          <a:p>
            <a:r>
              <a:rPr lang="ru-RU" sz="2400" b="1" dirty="0">
                <a:solidFill>
                  <a:schemeClr val="accent2">
                    <a:lumMod val="75000"/>
                  </a:schemeClr>
                </a:solidFill>
                <a:latin typeface="Univers" panose="020B0503020202020204" pitchFamily="34" charset="0"/>
              </a:rPr>
              <a:t>Практическая значимость полученных результатов:</a:t>
            </a:r>
            <a:endParaRPr lang="ru-RU" sz="2400" dirty="0">
              <a:solidFill>
                <a:schemeClr val="accent2">
                  <a:lumMod val="75000"/>
                </a:schemeClr>
              </a:solidFill>
              <a:latin typeface="Univers" panose="020B050302020202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46CC302-E776-3B65-9B40-F06FF99ACA42}"/>
              </a:ext>
            </a:extLst>
          </p:cNvPr>
          <p:cNvSpPr/>
          <p:nvPr/>
        </p:nvSpPr>
        <p:spPr>
          <a:xfrm>
            <a:off x="0" y="1828995"/>
            <a:ext cx="12192000" cy="16659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Заголовок 5">
            <a:extLst>
              <a:ext uri="{FF2B5EF4-FFF2-40B4-BE49-F238E27FC236}">
                <a16:creationId xmlns:a16="http://schemas.microsoft.com/office/drawing/2014/main" id="{4B333B49-4A8D-A97F-0728-E17F589007A3}"/>
              </a:ext>
            </a:extLst>
          </p:cNvPr>
          <p:cNvSpPr txBox="1">
            <a:spLocks/>
          </p:cNvSpPr>
          <p:nvPr/>
        </p:nvSpPr>
        <p:spPr>
          <a:xfrm>
            <a:off x="8229600" y="235232"/>
            <a:ext cx="3787124" cy="962120"/>
          </a:xfrm>
          <a:prstGeom prst="roundRect">
            <a:avLst>
              <a:gd name="adj" fmla="val 22536"/>
            </a:avLst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ru-RU" sz="1800" dirty="0">
                <a:latin typeface="Univers" panose="020B0503020202020204" pitchFamily="34" charset="0"/>
              </a:rPr>
              <a:t>ДПП ПП «Прикладной анализ данных в экономике, финансах и управлении»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604442-1319-6A13-1823-8DD11783CBB8}"/>
              </a:ext>
            </a:extLst>
          </p:cNvPr>
          <p:cNvSpPr txBox="1"/>
          <p:nvPr/>
        </p:nvSpPr>
        <p:spPr>
          <a:xfrm>
            <a:off x="304800" y="1890718"/>
            <a:ext cx="11811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 Light" panose="020B0403020202020204" pitchFamily="34" charset="0"/>
              </a:rPr>
              <a:t>Очищенный датасет может быть использован финансовыми аналитиками для мониторинга исполнения бюджета, выявления отклонений и построения прогнозов. Высокая корреляция позволяет использовать плановые показатели как один из предикторов.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8C2264E-39D3-4496-4561-D44B99D63356}"/>
              </a:ext>
            </a:extLst>
          </p:cNvPr>
          <p:cNvSpPr/>
          <p:nvPr/>
        </p:nvSpPr>
        <p:spPr>
          <a:xfrm>
            <a:off x="2981632" y="4419600"/>
            <a:ext cx="9220200" cy="2438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30E528-6DAF-B8FF-6E98-2DADDE838A8B}"/>
              </a:ext>
            </a:extLst>
          </p:cNvPr>
          <p:cNvSpPr txBox="1"/>
          <p:nvPr/>
        </p:nvSpPr>
        <p:spPr>
          <a:xfrm>
            <a:off x="2947219" y="3799580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75000"/>
                  </a:schemeClr>
                </a:solidFill>
                <a:latin typeface="Univers" panose="020B0503020202020204" pitchFamily="34" charset="0"/>
              </a:rPr>
              <a:t>Что еще можно сделать: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C27E58-4D88-E8C5-E637-23DB659AF7BE}"/>
              </a:ext>
            </a:extLst>
          </p:cNvPr>
          <p:cNvSpPr txBox="1"/>
          <p:nvPr/>
        </p:nvSpPr>
        <p:spPr>
          <a:xfrm>
            <a:off x="3149534" y="4623137"/>
            <a:ext cx="896626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 Light" panose="020B0403020202020204" pitchFamily="34" charset="0"/>
              </a:rPr>
              <a:t>Добавить внешние факторы (инфляция, курс рубля).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 Light" panose="020B0403020202020204" pitchFamily="34" charset="0"/>
              </a:rPr>
              <a:t>Построить детальные прогнозы по каждому виду доходов.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 Light" panose="020B0403020202020204" pitchFamily="34" charset="0"/>
              </a:rPr>
              <a:t>Разработать дашборд в Power BI для визуального контроля.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693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33F5D-DF6D-DC2D-6382-D9E36C9B2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968199B-1C95-F5D6-978F-0EDB499855A8}"/>
              </a:ext>
            </a:extLst>
          </p:cNvPr>
          <p:cNvSpPr/>
          <p:nvPr/>
        </p:nvSpPr>
        <p:spPr>
          <a:xfrm>
            <a:off x="0" y="3106731"/>
            <a:ext cx="12192000" cy="29623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7BB62B4-4CBE-CE09-CA5B-4A2D975B2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46960"/>
            <a:ext cx="7924800" cy="1107996"/>
          </a:xfrm>
        </p:spPr>
        <p:txBody>
          <a:bodyPr/>
          <a:lstStyle/>
          <a:p>
            <a:r>
              <a:rPr kumimoji="0" lang="ru-RU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" panose="020B0503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Датасет 2 - Краткая характеристика предметной области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" panose="020B0503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kumimoji="0" lang="ru-RU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" panose="020B0503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постановка задачи интеллектуального анализа данных в предметной области</a:t>
            </a:r>
            <a:endParaRPr lang="ru-RU" dirty="0">
              <a:solidFill>
                <a:schemeClr val="tx1">
                  <a:lumMod val="85000"/>
                  <a:lumOff val="15000"/>
                </a:schemeClr>
              </a:solidFill>
              <a:latin typeface="Univers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Заголовок 5">
            <a:extLst>
              <a:ext uri="{FF2B5EF4-FFF2-40B4-BE49-F238E27FC236}">
                <a16:creationId xmlns:a16="http://schemas.microsoft.com/office/drawing/2014/main" id="{86DF7591-3513-5713-9E8B-80DA8954E360}"/>
              </a:ext>
            </a:extLst>
          </p:cNvPr>
          <p:cNvSpPr txBox="1">
            <a:spLocks/>
          </p:cNvSpPr>
          <p:nvPr/>
        </p:nvSpPr>
        <p:spPr>
          <a:xfrm>
            <a:off x="8153400" y="346960"/>
            <a:ext cx="3787124" cy="962120"/>
          </a:xfrm>
          <a:prstGeom prst="roundRect">
            <a:avLst>
              <a:gd name="adj" fmla="val 22536"/>
            </a:avLst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ru-RU" sz="1800" dirty="0">
                <a:latin typeface="Univers" panose="020B0503020202020204" pitchFamily="34" charset="0"/>
              </a:rPr>
              <a:t>ДПП ПП «Прикладной анализ данных в экономике, финансах и управлении»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61D3B22F-EB40-FA14-FEA3-97D53ADB49B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33400" y="1635472"/>
            <a:ext cx="11483324" cy="1107996"/>
          </a:xfrm>
        </p:spPr>
        <p:txBody>
          <a:bodyPr/>
          <a:lstStyle/>
          <a:p>
            <a:r>
              <a:rPr lang="ru-RU" sz="2400" b="1" dirty="0">
                <a:solidFill>
                  <a:schemeClr val="accent4">
                    <a:lumMod val="75000"/>
                  </a:schemeClr>
                </a:solidFill>
                <a:latin typeface="Univers" panose="020B0503020202020204" pitchFamily="34" charset="0"/>
              </a:rPr>
              <a:t>Предметная область:</a:t>
            </a:r>
          </a:p>
          <a:p>
            <a:r>
              <a:rPr lang="ru-RU" sz="2400" dirty="0">
                <a:solidFill>
                  <a:schemeClr val="accent4">
                    <a:lumMod val="75000"/>
                  </a:schemeClr>
                </a:solidFill>
                <a:latin typeface="Univers" panose="020B0503020202020204" pitchFamily="34" charset="0"/>
              </a:rPr>
              <a:t>Бюджетные доходы Москвы. Для прогноза использованы фактические суммы по всем детальным видам, агрегированные по кварталам.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1A0F8B-ADF5-13BA-045C-097411A80916}"/>
              </a:ext>
            </a:extLst>
          </p:cNvPr>
          <p:cNvSpPr txBox="1"/>
          <p:nvPr/>
        </p:nvSpPr>
        <p:spPr>
          <a:xfrm>
            <a:off x="533400" y="3429000"/>
            <a:ext cx="10210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75000"/>
                  </a:schemeClr>
                </a:solidFill>
                <a:latin typeface="Univers" panose="020B0503020202020204" pitchFamily="34" charset="0"/>
              </a:rPr>
              <a:t>Задача интеллектуального анализа (прогнозирование):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Univers" panose="020B0503020202020204" pitchFamily="34" charset="0"/>
              </a:rPr>
              <a:t>построить модель для прогноза суммарных доходов бюджета на 4 квартала вперёд (Q3 2026 – Q2 2027) на основе исторических данных;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Univers" panose="020B0503020202020204" pitchFamily="34" charset="0"/>
              </a:rPr>
              <a:t>оценить точность прогноза и представить результат в виде готового датасета-продукта.</a:t>
            </a:r>
          </a:p>
          <a:p>
            <a:endParaRPr lang="ru-RU" sz="2400" b="1" dirty="0">
              <a:solidFill>
                <a:schemeClr val="accent2">
                  <a:lumMod val="75000"/>
                </a:schemeClr>
              </a:solidFill>
              <a:latin typeface="Univers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768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CFB222F-DA59-47A8-B420-D6661AF61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10680"/>
            <a:ext cx="7543800" cy="1107996"/>
          </a:xfrm>
        </p:spPr>
        <p:txBody>
          <a:bodyPr/>
          <a:lstStyle/>
          <a:p>
            <a:r>
              <a:rPr lang="ru-RU" dirty="0">
                <a:latin typeface="Univers" panose="020B0503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Датасет 2 - Примененные в ходе выполнения проекта инструменты и методы интеллектуального анализа данных</a:t>
            </a:r>
            <a:endParaRPr lang="ru-RU" dirty="0">
              <a:latin typeface="Univers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Заголовок 5">
            <a:extLst>
              <a:ext uri="{FF2B5EF4-FFF2-40B4-BE49-F238E27FC236}">
                <a16:creationId xmlns:a16="http://schemas.microsoft.com/office/drawing/2014/main" id="{5B6ECF03-56EE-97DB-8B5E-9FE75DBD6EF6}"/>
              </a:ext>
            </a:extLst>
          </p:cNvPr>
          <p:cNvSpPr txBox="1">
            <a:spLocks/>
          </p:cNvSpPr>
          <p:nvPr/>
        </p:nvSpPr>
        <p:spPr>
          <a:xfrm>
            <a:off x="8229600" y="235232"/>
            <a:ext cx="3787124" cy="962120"/>
          </a:xfrm>
          <a:prstGeom prst="roundRect">
            <a:avLst>
              <a:gd name="adj" fmla="val 22536"/>
            </a:avLst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ru-RU" sz="1800" dirty="0">
                <a:latin typeface="Univers" panose="020B0503020202020204" pitchFamily="34" charset="0"/>
              </a:rPr>
              <a:t>ДПП ПП «Прикладной анализ данных в экономике, финансах и управлении»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B3A2A0D-F808-DE10-930A-6B4C8391A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401765"/>
              </p:ext>
            </p:extLst>
          </p:nvPr>
        </p:nvGraphicFramePr>
        <p:xfrm>
          <a:off x="790558" y="2133600"/>
          <a:ext cx="10610884" cy="210312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3662884">
                  <a:extLst>
                    <a:ext uri="{9D8B030D-6E8A-4147-A177-3AD203B41FA5}">
                      <a16:colId xmlns:a16="http://schemas.microsoft.com/office/drawing/2014/main" val="3586860763"/>
                    </a:ext>
                  </a:extLst>
                </a:gridCol>
                <a:gridCol w="6948000">
                  <a:extLst>
                    <a:ext uri="{9D8B030D-6E8A-4147-A177-3AD203B41FA5}">
                      <a16:colId xmlns:a16="http://schemas.microsoft.com/office/drawing/2014/main" val="1337866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Univers Light" panose="020B0403020202020204" pitchFamily="34" charset="0"/>
                        </a:rPr>
                        <a:t>Категория</a:t>
                      </a:r>
                      <a:endParaRPr lang="en-US" sz="2400" dirty="0">
                        <a:latin typeface="Univers Light" panose="020B04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Univers Light" panose="020B0403020202020204" pitchFamily="34" charset="0"/>
                        </a:rPr>
                        <a:t>Инструменты</a:t>
                      </a:r>
                      <a:endParaRPr lang="en-US" sz="2400" dirty="0">
                        <a:latin typeface="Univers Light" panose="020B04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790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Univers Light" panose="020B0403020202020204" pitchFamily="34" charset="0"/>
                        </a:rPr>
                        <a:t>Среда разработки</a:t>
                      </a:r>
                      <a:endParaRPr lang="en-US" sz="2400" dirty="0">
                        <a:latin typeface="Univers Light" panose="020B0403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Univers Light" panose="020B0403020202020204" pitchFamily="34" charset="0"/>
                        </a:rPr>
                        <a:t>Google </a:t>
                      </a:r>
                      <a:r>
                        <a:rPr lang="en-US" sz="2400" dirty="0" err="1">
                          <a:latin typeface="Univers Light" panose="020B0403020202020204" pitchFamily="34" charset="0"/>
                        </a:rPr>
                        <a:t>Colab</a:t>
                      </a:r>
                      <a:r>
                        <a:rPr lang="en-US" sz="2400" dirty="0">
                          <a:latin typeface="Univers Light" panose="020B0403020202020204" pitchFamily="34" charset="0"/>
                        </a:rPr>
                        <a:t> / </a:t>
                      </a:r>
                      <a:r>
                        <a:rPr lang="en-US" sz="2400" dirty="0" err="1">
                          <a:latin typeface="Univers Light" panose="020B0403020202020204" pitchFamily="34" charset="0"/>
                        </a:rPr>
                        <a:t>Jupyter</a:t>
                      </a:r>
                      <a:r>
                        <a:rPr lang="en-US" sz="2400" dirty="0">
                          <a:latin typeface="Univers Light" panose="020B0403020202020204" pitchFamily="34" charset="0"/>
                        </a:rPr>
                        <a:t> Notebook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48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Univers Light" panose="020B0403020202020204" pitchFamily="34" charset="0"/>
                        </a:rPr>
                        <a:t>Библиотеки Python для анализа и визуализации данных</a:t>
                      </a:r>
                      <a:endParaRPr lang="en-US" sz="2400" dirty="0">
                        <a:latin typeface="Univers Light" panose="020B0403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Univers Light" panose="020B0403020202020204" pitchFamily="34" charset="0"/>
                        </a:rPr>
                        <a:t>Pandas, NumPy, Matplotlib, Statsmodels (ACF, PACF, </a:t>
                      </a:r>
                      <a:r>
                        <a:rPr lang="ru-RU" sz="2400" dirty="0">
                          <a:latin typeface="Univers Light" panose="020B0403020202020204" pitchFamily="34" charset="0"/>
                        </a:rPr>
                        <a:t>декомпозиция), </a:t>
                      </a:r>
                      <a:r>
                        <a:rPr lang="en-US" sz="2400" dirty="0" err="1">
                          <a:latin typeface="Univers Light" panose="020B0403020202020204" pitchFamily="34" charset="0"/>
                        </a:rPr>
                        <a:t>Sklearn</a:t>
                      </a:r>
                      <a:r>
                        <a:rPr lang="en-US" sz="2400" dirty="0">
                          <a:latin typeface="Univers Light" panose="020B0403020202020204" pitchFamily="34" charset="0"/>
                        </a:rPr>
                        <a:t> (MAPE)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60748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A57AA27-F89B-3919-93D8-18D89814C3B7}"/>
              </a:ext>
            </a:extLst>
          </p:cNvPr>
          <p:cNvSpPr txBox="1"/>
          <p:nvPr/>
        </p:nvSpPr>
        <p:spPr>
          <a:xfrm>
            <a:off x="304800" y="140871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Univers" panose="020B0503020202020204" pitchFamily="34" charset="0"/>
                <a:ea typeface="+mn-ea"/>
                <a:cs typeface="+mn-cs"/>
              </a:rPr>
              <a:t>Инструментальные средства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Univers" panose="020B0503020202020204" pitchFamily="34" charset="0"/>
                <a:ea typeface="+mn-ea"/>
                <a:cs typeface="+mn-cs"/>
              </a:rPr>
              <a:t>Python:</a:t>
            </a:r>
            <a:endParaRPr kumimoji="0" lang="ru-RU" sz="2400" b="1" i="1" u="none" strike="noStrike" kern="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Univers" panose="020B0503020202020204" pitchFamily="34" charset="0"/>
              <a:ea typeface="+mn-ea"/>
              <a:cs typeface="+mn-cs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2C995E1-2223-7029-4FF0-87E345C9D460}"/>
              </a:ext>
            </a:extLst>
          </p:cNvPr>
          <p:cNvSpPr/>
          <p:nvPr/>
        </p:nvSpPr>
        <p:spPr>
          <a:xfrm>
            <a:off x="12290" y="4419600"/>
            <a:ext cx="12179710" cy="21031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D72E6D-F292-4B80-C250-71A8328C904E}"/>
              </a:ext>
            </a:extLst>
          </p:cNvPr>
          <p:cNvSpPr txBox="1"/>
          <p:nvPr/>
        </p:nvSpPr>
        <p:spPr>
          <a:xfrm>
            <a:off x="790558" y="4516343"/>
            <a:ext cx="110204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accent2">
                    <a:lumMod val="75000"/>
                  </a:schemeClr>
                </a:solidFill>
                <a:latin typeface="Univers" panose="020B0503020202020204" pitchFamily="34" charset="0"/>
              </a:rPr>
              <a:t>Класс задач машинного обучения:</a:t>
            </a:r>
          </a:p>
          <a:p>
            <a:r>
              <a:rPr lang="ru-RU" dirty="0">
                <a:latin typeface="Univers" panose="020B0503020202020204" pitchFamily="34" charset="0"/>
              </a:rPr>
              <a:t>Прогнозирование временных рядов (регрессионная задача)</a:t>
            </a:r>
          </a:p>
          <a:p>
            <a:endParaRPr lang="ru-RU" dirty="0">
              <a:latin typeface="Univers" panose="020B0503020202020204" pitchFamily="34" charset="0"/>
            </a:endParaRPr>
          </a:p>
          <a:p>
            <a:r>
              <a:rPr lang="ru-RU" sz="2000" b="1" dirty="0">
                <a:solidFill>
                  <a:schemeClr val="accent2">
                    <a:lumMod val="75000"/>
                  </a:schemeClr>
                </a:solidFill>
                <a:latin typeface="Univers" panose="020B0503020202020204" pitchFamily="34" charset="0"/>
              </a:rPr>
              <a:t>Алгоритмы машинного обучения:</a:t>
            </a:r>
          </a:p>
          <a:p>
            <a:r>
              <a:rPr lang="ru-RU" dirty="0">
                <a:latin typeface="Univers" panose="020B0503020202020204" pitchFamily="34" charset="0"/>
              </a:rPr>
              <a:t>Наивный сезонный метод (</a:t>
            </a:r>
            <a:r>
              <a:rPr lang="ru-RU" dirty="0" err="1">
                <a:latin typeface="Univers" panose="020B0503020202020204" pitchFamily="34" charset="0"/>
              </a:rPr>
              <a:t>same</a:t>
            </a:r>
            <a:r>
              <a:rPr lang="ru-RU" dirty="0">
                <a:latin typeface="Univers" panose="020B0503020202020204" pitchFamily="34" charset="0"/>
              </a:rPr>
              <a:t> </a:t>
            </a:r>
            <a:r>
              <a:rPr lang="ru-RU" dirty="0" err="1">
                <a:latin typeface="Univers" panose="020B0503020202020204" pitchFamily="34" charset="0"/>
              </a:rPr>
              <a:t>quarter</a:t>
            </a:r>
            <a:r>
              <a:rPr lang="ru-RU" dirty="0">
                <a:latin typeface="Univers" panose="020B0503020202020204" pitchFamily="34" charset="0"/>
              </a:rPr>
              <a:t> </a:t>
            </a:r>
            <a:r>
              <a:rPr lang="ru-RU" dirty="0" err="1">
                <a:latin typeface="Univers" panose="020B0503020202020204" pitchFamily="34" charset="0"/>
              </a:rPr>
              <a:t>of</a:t>
            </a:r>
            <a:r>
              <a:rPr lang="ru-RU" dirty="0">
                <a:latin typeface="Univers" panose="020B0503020202020204" pitchFamily="34" charset="0"/>
              </a:rPr>
              <a:t> </a:t>
            </a:r>
            <a:r>
              <a:rPr lang="ru-RU" dirty="0" err="1">
                <a:latin typeface="Univers" panose="020B0503020202020204" pitchFamily="34" charset="0"/>
              </a:rPr>
              <a:t>previous</a:t>
            </a:r>
            <a:r>
              <a:rPr lang="ru-RU" dirty="0">
                <a:latin typeface="Univers" panose="020B0503020202020204" pitchFamily="34" charset="0"/>
              </a:rPr>
              <a:t> </a:t>
            </a:r>
            <a:r>
              <a:rPr lang="ru-RU" dirty="0" err="1">
                <a:latin typeface="Univers" panose="020B0503020202020204" pitchFamily="34" charset="0"/>
              </a:rPr>
              <a:t>year</a:t>
            </a:r>
            <a:r>
              <a:rPr lang="ru-RU" dirty="0">
                <a:latin typeface="Univers" panose="020B0503020202020204" pitchFamily="34" charset="0"/>
              </a:rPr>
              <a:t>). Выбран из-за малого объёма данных (10 кварталов) – более сложные модели (</a:t>
            </a:r>
            <a:r>
              <a:rPr lang="ru-RU" dirty="0" err="1">
                <a:latin typeface="Univers" panose="020B0503020202020204" pitchFamily="34" charset="0"/>
              </a:rPr>
              <a:t>Хольт-Винтерс</a:t>
            </a:r>
            <a:r>
              <a:rPr lang="ru-RU" dirty="0">
                <a:latin typeface="Univers" panose="020B0503020202020204" pitchFamily="34" charset="0"/>
              </a:rPr>
              <a:t>) давали нестабильные результаты.</a:t>
            </a:r>
            <a:endParaRPr lang="en-US" dirty="0">
              <a:latin typeface="Univers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258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4203F7E-0B63-10E7-8E15-FD7973B521E3}"/>
              </a:ext>
            </a:extLst>
          </p:cNvPr>
          <p:cNvSpPr/>
          <p:nvPr/>
        </p:nvSpPr>
        <p:spPr>
          <a:xfrm>
            <a:off x="4114800" y="2025480"/>
            <a:ext cx="8077199" cy="48325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Заголовок 5">
            <a:extLst>
              <a:ext uri="{FF2B5EF4-FFF2-40B4-BE49-F238E27FC236}">
                <a16:creationId xmlns:a16="http://schemas.microsoft.com/office/drawing/2014/main" id="{BE4D9F02-D889-1DDD-2455-02C9008A9E3C}"/>
              </a:ext>
            </a:extLst>
          </p:cNvPr>
          <p:cNvSpPr txBox="1">
            <a:spLocks/>
          </p:cNvSpPr>
          <p:nvPr/>
        </p:nvSpPr>
        <p:spPr>
          <a:xfrm>
            <a:off x="533400" y="346960"/>
            <a:ext cx="792480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r>
              <a:rPr lang="ru-RU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Датасет 2 - </a:t>
            </a:r>
            <a:r>
              <a:rPr lang="ru-RU" sz="2000" kern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Результаты интеллектуального анализа данных, их практическая интерпретация (с иллюстрациями)</a:t>
            </a:r>
            <a:endParaRPr lang="ru-RU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Заголовок 5">
            <a:extLst>
              <a:ext uri="{FF2B5EF4-FFF2-40B4-BE49-F238E27FC236}">
                <a16:creationId xmlns:a16="http://schemas.microsoft.com/office/drawing/2014/main" id="{7D6BDA2F-FC05-4502-D57C-E93B1C988327}"/>
              </a:ext>
            </a:extLst>
          </p:cNvPr>
          <p:cNvSpPr txBox="1">
            <a:spLocks/>
          </p:cNvSpPr>
          <p:nvPr/>
        </p:nvSpPr>
        <p:spPr>
          <a:xfrm>
            <a:off x="8229600" y="235232"/>
            <a:ext cx="3787124" cy="962120"/>
          </a:xfrm>
          <a:prstGeom prst="roundRect">
            <a:avLst>
              <a:gd name="adj" fmla="val 22536"/>
            </a:avLst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ru-RU" sz="1800" dirty="0">
                <a:latin typeface="Univers" panose="020B0503020202020204" pitchFamily="34" charset="0"/>
              </a:rPr>
              <a:t>ДПП ПП «Прикладной анализ данных в экономике, финансах и управлении»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941A4F3-63A4-CFA1-A8D0-F0AEF19535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389062"/>
              </p:ext>
            </p:extLst>
          </p:nvPr>
        </p:nvGraphicFramePr>
        <p:xfrm>
          <a:off x="533400" y="1528636"/>
          <a:ext cx="3377381" cy="228600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714953">
                  <a:extLst>
                    <a:ext uri="{9D8B030D-6E8A-4147-A177-3AD203B41FA5}">
                      <a16:colId xmlns:a16="http://schemas.microsoft.com/office/drawing/2014/main" val="3586860763"/>
                    </a:ext>
                  </a:extLst>
                </a:gridCol>
                <a:gridCol w="1662428">
                  <a:extLst>
                    <a:ext uri="{9D8B030D-6E8A-4147-A177-3AD203B41FA5}">
                      <a16:colId xmlns:a16="http://schemas.microsoft.com/office/drawing/2014/main" val="1337866293"/>
                    </a:ext>
                  </a:extLst>
                </a:gridCol>
              </a:tblGrid>
              <a:tr h="370458"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Univers Light" panose="020B0403020202020204" pitchFamily="34" charset="0"/>
                        </a:rPr>
                        <a:t>Дата</a:t>
                      </a:r>
                      <a:endParaRPr lang="en-US" sz="2400" dirty="0">
                        <a:latin typeface="Univers Light" panose="020B04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latin typeface="Univers Light" panose="020B0403020202020204" pitchFamily="34" charset="0"/>
                        </a:rPr>
                        <a:t>Млрд руб.</a:t>
                      </a:r>
                      <a:endParaRPr lang="en-US" sz="2400" dirty="0">
                        <a:latin typeface="Univers Light" panose="020B04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790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b="1" dirty="0">
                          <a:latin typeface="Univers Light" panose="020B0403020202020204" pitchFamily="34" charset="0"/>
                        </a:rPr>
                        <a:t>01.07.2026</a:t>
                      </a:r>
                      <a:endParaRPr lang="en-US" sz="2400" b="1" dirty="0">
                        <a:latin typeface="Univers Light" panose="020B0403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>
                          <a:latin typeface="Univers Light" panose="020B0403020202020204" pitchFamily="34" charset="0"/>
                        </a:rPr>
                        <a:t>2 495,1</a:t>
                      </a:r>
                      <a:endParaRPr lang="en-US" sz="2400" b="1" dirty="0">
                        <a:latin typeface="Univers Light" panose="020B0403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48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b="1" dirty="0">
                          <a:latin typeface="Univers Light" panose="020B0403020202020204" pitchFamily="34" charset="0"/>
                        </a:rPr>
                        <a:t>01.10.2026</a:t>
                      </a:r>
                      <a:endParaRPr lang="en-US" sz="2400" b="1" dirty="0">
                        <a:latin typeface="Univers Light" panose="020B0403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>
                          <a:latin typeface="Univers Light" panose="020B0403020202020204" pitchFamily="34" charset="0"/>
                        </a:rPr>
                        <a:t>3 903,2</a:t>
                      </a:r>
                      <a:endParaRPr lang="en-US" sz="2400" b="1" dirty="0">
                        <a:latin typeface="Univers Light" panose="020B0403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607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b="1" dirty="0">
                          <a:latin typeface="Univers Light" panose="020B0403020202020204" pitchFamily="34" charset="0"/>
                        </a:rPr>
                        <a:t>01.012027</a:t>
                      </a:r>
                      <a:endParaRPr lang="en-US" sz="2400" b="1" dirty="0">
                        <a:latin typeface="Univers Light" panose="020B0403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>
                          <a:latin typeface="Univers Light" panose="020B0403020202020204" pitchFamily="34" charset="0"/>
                        </a:rPr>
                        <a:t>5 463,8</a:t>
                      </a:r>
                      <a:endParaRPr lang="en-US" sz="2400" b="1" dirty="0">
                        <a:latin typeface="Univers Light" panose="020B0403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364065"/>
                  </a:ext>
                </a:extLst>
              </a:tr>
              <a:tr h="316488">
                <a:tc>
                  <a:txBody>
                    <a:bodyPr/>
                    <a:lstStyle/>
                    <a:p>
                      <a:r>
                        <a:rPr lang="ru-RU" sz="2400" b="1" dirty="0">
                          <a:latin typeface="Univers Light" panose="020B0403020202020204" pitchFamily="34" charset="0"/>
                        </a:rPr>
                        <a:t>01.04.2027</a:t>
                      </a:r>
                      <a:endParaRPr lang="en-US" sz="2400" b="1" dirty="0">
                        <a:latin typeface="Univers Light" panose="020B0403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>
                          <a:latin typeface="Univers Light" panose="020B0403020202020204" pitchFamily="34" charset="0"/>
                        </a:rPr>
                        <a:t>1 210,3</a:t>
                      </a:r>
                      <a:endParaRPr lang="en-US" sz="2400" b="1" dirty="0">
                        <a:latin typeface="Univers Light" panose="020B0403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701678"/>
                  </a:ext>
                </a:extLst>
              </a:tr>
            </a:tbl>
          </a:graphicData>
        </a:graphic>
      </p:graphicFrame>
      <p:pic>
        <p:nvPicPr>
          <p:cNvPr id="9" name="Объект 8">
            <a:extLst>
              <a:ext uri="{FF2B5EF4-FFF2-40B4-BE49-F238E27FC236}">
                <a16:creationId xmlns:a16="http://schemas.microsoft.com/office/drawing/2014/main" id="{84580288-DA33-979B-D32E-6D7934EDFA8A}"/>
              </a:ext>
            </a:extLst>
          </p:cNvPr>
          <p:cNvPicPr>
            <a:picLocks noGrp="1" noChangeAspect="1"/>
          </p:cNvPicPr>
          <p:nvPr>
            <p:ph sz="half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2760073"/>
            <a:ext cx="7646342" cy="38626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03D0C0-6306-05F7-B0DE-D648808CEE6A}"/>
              </a:ext>
            </a:extLst>
          </p:cNvPr>
          <p:cNvSpPr txBox="1"/>
          <p:nvPr/>
        </p:nvSpPr>
        <p:spPr>
          <a:xfrm>
            <a:off x="457200" y="11163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2">
                    <a:lumMod val="75000"/>
                  </a:schemeClr>
                </a:solidFill>
                <a:latin typeface="Univers" panose="020B0503020202020204" pitchFamily="34" charset="0"/>
              </a:rPr>
              <a:t>Прогноз на 4 квартала вперёд: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0665E0-B615-7197-2F5A-DAACB13713D6}"/>
              </a:ext>
            </a:extLst>
          </p:cNvPr>
          <p:cNvSpPr txBox="1"/>
          <p:nvPr/>
        </p:nvSpPr>
        <p:spPr>
          <a:xfrm>
            <a:off x="4013671" y="1395679"/>
            <a:ext cx="8305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accent2">
                    <a:lumMod val="75000"/>
                  </a:schemeClr>
                </a:solidFill>
                <a:latin typeface="Univers" panose="020B0503020202020204" pitchFamily="34" charset="0"/>
              </a:rPr>
              <a:t>Построен временной ряд из 10 квартальных наблюдений (Q1 2024 – Q2 2026).</a:t>
            </a:r>
          </a:p>
          <a:p>
            <a:r>
              <a:rPr lang="ru-RU" sz="1600" b="1" dirty="0">
                <a:solidFill>
                  <a:schemeClr val="accent2">
                    <a:lumMod val="75000"/>
                  </a:schemeClr>
                </a:solidFill>
                <a:latin typeface="Univers" panose="020B0503020202020204" pitchFamily="34" charset="0"/>
              </a:rPr>
              <a:t>MAPE на тестовом периоде (Q1–Q2 2026) = 4,01% – высокая точность.</a:t>
            </a:r>
            <a:endParaRPr lang="ru-RU" sz="1600" dirty="0">
              <a:latin typeface="Univers" panose="020B0503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8902E1-C928-CB19-115B-989896471EB0}"/>
              </a:ext>
            </a:extLst>
          </p:cNvPr>
          <p:cNvSpPr txBox="1"/>
          <p:nvPr/>
        </p:nvSpPr>
        <p:spPr>
          <a:xfrm>
            <a:off x="4343400" y="2115532"/>
            <a:ext cx="78257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chemeClr val="accent2">
                    <a:lumMod val="75000"/>
                  </a:schemeClr>
                </a:solidFill>
                <a:latin typeface="Univers" panose="020B0503020202020204" pitchFamily="34" charset="0"/>
              </a:rPr>
              <a:t>Линейный график «Динамика суммарных фактических доходов с прогнозом и доверительным интервалом»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987DF5-032D-1886-7C6B-73EDDA3459DD}"/>
              </a:ext>
            </a:extLst>
          </p:cNvPr>
          <p:cNvSpPr txBox="1"/>
          <p:nvPr/>
        </p:nvSpPr>
        <p:spPr>
          <a:xfrm>
            <a:off x="457200" y="3904688"/>
            <a:ext cx="355647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Univers Light" panose="020B0403020202020204" pitchFamily="34" charset="0"/>
              </a:rPr>
              <a:t>Прогноз сохраняет сезонный паттерн (пик в первом квартале, минимум во втором). Ошибка менее 5% позволяет использовать прогноз для оперативного планирования.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3943856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5DFB3-3D24-290C-6B32-8E4A7E14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9D54298-05E7-5E3A-D2A0-EF9A80A0A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29074"/>
            <a:ext cx="7924800" cy="738664"/>
          </a:xfrm>
        </p:spPr>
        <p:txBody>
          <a:bodyPr/>
          <a:lstStyle/>
          <a:p>
            <a:r>
              <a:rPr lang="ru-RU" dirty="0">
                <a:latin typeface="Univers" panose="020B0503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Датасет 2 - Выводы о практической значимости полученных результатов, что еще можно сделать</a:t>
            </a:r>
            <a:endParaRPr lang="ru-RU" dirty="0">
              <a:latin typeface="Univers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81898A60-492C-36F7-4EEB-52B498D40C7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81000" y="1250097"/>
            <a:ext cx="11811000" cy="369332"/>
          </a:xfrm>
        </p:spPr>
        <p:txBody>
          <a:bodyPr/>
          <a:lstStyle/>
          <a:p>
            <a:r>
              <a:rPr lang="ru-RU" sz="2400" b="1" dirty="0">
                <a:solidFill>
                  <a:schemeClr val="accent2">
                    <a:lumMod val="75000"/>
                  </a:schemeClr>
                </a:solidFill>
                <a:latin typeface="Univers" panose="020B0503020202020204" pitchFamily="34" charset="0"/>
              </a:rPr>
              <a:t>Практическая значимость полученных результатов:</a:t>
            </a:r>
            <a:endParaRPr lang="ru-RU" sz="2400" dirty="0">
              <a:solidFill>
                <a:schemeClr val="accent2">
                  <a:lumMod val="75000"/>
                </a:schemeClr>
              </a:solidFill>
              <a:latin typeface="Univers" panose="020B050302020202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1049535-2571-C915-24A8-2C505842046E}"/>
              </a:ext>
            </a:extLst>
          </p:cNvPr>
          <p:cNvSpPr/>
          <p:nvPr/>
        </p:nvSpPr>
        <p:spPr>
          <a:xfrm>
            <a:off x="0" y="1828995"/>
            <a:ext cx="12192000" cy="16659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Заголовок 5">
            <a:extLst>
              <a:ext uri="{FF2B5EF4-FFF2-40B4-BE49-F238E27FC236}">
                <a16:creationId xmlns:a16="http://schemas.microsoft.com/office/drawing/2014/main" id="{F9AE4799-83B2-0099-88FC-33DDCCD94DC4}"/>
              </a:ext>
            </a:extLst>
          </p:cNvPr>
          <p:cNvSpPr txBox="1">
            <a:spLocks/>
          </p:cNvSpPr>
          <p:nvPr/>
        </p:nvSpPr>
        <p:spPr>
          <a:xfrm>
            <a:off x="8229600" y="235232"/>
            <a:ext cx="3787124" cy="962120"/>
          </a:xfrm>
          <a:prstGeom prst="roundRect">
            <a:avLst>
              <a:gd name="adj" fmla="val 22536"/>
            </a:avLst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ru-RU" sz="1800" dirty="0">
                <a:latin typeface="Univers" panose="020B0503020202020204" pitchFamily="34" charset="0"/>
              </a:rPr>
              <a:t>ДПП ПП «Прикладной анализ данных в экономике, финансах и управлении»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D000A7-3F71-F5B2-D0C6-74D76C311FA7}"/>
              </a:ext>
            </a:extLst>
          </p:cNvPr>
          <p:cNvSpPr txBox="1"/>
          <p:nvPr/>
        </p:nvSpPr>
        <p:spPr>
          <a:xfrm>
            <a:off x="304800" y="1992362"/>
            <a:ext cx="11811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 Light" panose="020B0403020202020204" pitchFamily="34" charset="0"/>
              </a:rPr>
              <a:t>Разработанный прогнозный датасет может быть передан финансовым органам для среднесрочного планирования бюджета, оценки ожидаемых поступлений и предотвращения кассовых разрывов.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87AEF76-7413-2365-762E-9FB45BF8A885}"/>
              </a:ext>
            </a:extLst>
          </p:cNvPr>
          <p:cNvSpPr/>
          <p:nvPr/>
        </p:nvSpPr>
        <p:spPr>
          <a:xfrm>
            <a:off x="2981632" y="4419600"/>
            <a:ext cx="9220200" cy="24384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ABB1AB-46A5-8A9A-8BFB-09ED0744CB43}"/>
              </a:ext>
            </a:extLst>
          </p:cNvPr>
          <p:cNvSpPr txBox="1"/>
          <p:nvPr/>
        </p:nvSpPr>
        <p:spPr>
          <a:xfrm>
            <a:off x="2947219" y="3799580"/>
            <a:ext cx="6100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75000"/>
                  </a:schemeClr>
                </a:solidFill>
                <a:latin typeface="Univers" panose="020B0503020202020204" pitchFamily="34" charset="0"/>
              </a:rPr>
              <a:t>Что еще можно сделать: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274260-6162-3D1B-66F6-B835333C1463}"/>
              </a:ext>
            </a:extLst>
          </p:cNvPr>
          <p:cNvSpPr txBox="1"/>
          <p:nvPr/>
        </p:nvSpPr>
        <p:spPr>
          <a:xfrm>
            <a:off x="3149534" y="4623137"/>
            <a:ext cx="896626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 Light" panose="020B0403020202020204" pitchFamily="34" charset="0"/>
              </a:rPr>
              <a:t>Накопить больше исторических данных (3–5 лет) для использования более сложных моделей (SARIMA, </a:t>
            </a:r>
            <a:r>
              <a:rPr kumimoji="0" lang="ru-RU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 Light" panose="020B0403020202020204" pitchFamily="34" charset="0"/>
              </a:rPr>
              <a:t>Prophet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 Light" panose="020B0403020202020204" pitchFamily="34" charset="0"/>
              </a:rPr>
              <a:t>).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 Light" panose="020B0403020202020204" pitchFamily="34" charset="0"/>
              </a:rPr>
              <a:t>Добавить доверительные интервалы с помощью </a:t>
            </a:r>
            <a:r>
              <a:rPr kumimoji="0" lang="ru-RU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 Light" panose="020B0403020202020204" pitchFamily="34" charset="0"/>
              </a:rPr>
              <a:t>бутстрапа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 Light" panose="020B0403020202020204" pitchFamily="34" charset="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 Light" panose="020B0403020202020204" pitchFamily="34" charset="0"/>
              </a:rPr>
              <a:t>Автоматизировать ежеквартальное обновление прогноза.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0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AE558-3128-32C4-21BC-274800228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A92D8ED-4FDF-043F-1D7C-78EC5B963FBE}"/>
              </a:ext>
            </a:extLst>
          </p:cNvPr>
          <p:cNvSpPr/>
          <p:nvPr/>
        </p:nvSpPr>
        <p:spPr>
          <a:xfrm>
            <a:off x="0" y="3578613"/>
            <a:ext cx="12192000" cy="25630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Заголовок 5">
            <a:extLst>
              <a:ext uri="{FF2B5EF4-FFF2-40B4-BE49-F238E27FC236}">
                <a16:creationId xmlns:a16="http://schemas.microsoft.com/office/drawing/2014/main" id="{2BF39332-B776-2119-8A54-7913AC79038C}"/>
              </a:ext>
            </a:extLst>
          </p:cNvPr>
          <p:cNvSpPr txBox="1">
            <a:spLocks/>
          </p:cNvSpPr>
          <p:nvPr/>
        </p:nvSpPr>
        <p:spPr>
          <a:xfrm>
            <a:off x="533400" y="346960"/>
            <a:ext cx="79248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r>
              <a:rPr lang="ru-RU" sz="2800" dirty="0">
                <a:latin typeface="Univers" panose="020B0503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Продуктовый результат</a:t>
            </a:r>
            <a:endParaRPr lang="ru-RU" sz="2800" kern="0" dirty="0">
              <a:latin typeface="Univers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Заголовок 5">
            <a:extLst>
              <a:ext uri="{FF2B5EF4-FFF2-40B4-BE49-F238E27FC236}">
                <a16:creationId xmlns:a16="http://schemas.microsoft.com/office/drawing/2014/main" id="{2BAACE58-5A98-516E-1A77-08A1047DE3C0}"/>
              </a:ext>
            </a:extLst>
          </p:cNvPr>
          <p:cNvSpPr txBox="1">
            <a:spLocks/>
          </p:cNvSpPr>
          <p:nvPr/>
        </p:nvSpPr>
        <p:spPr>
          <a:xfrm>
            <a:off x="8229600" y="235232"/>
            <a:ext cx="3787124" cy="962120"/>
          </a:xfrm>
          <a:prstGeom prst="roundRect">
            <a:avLst>
              <a:gd name="adj" fmla="val 22536"/>
            </a:avLst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ru-RU" sz="1800" dirty="0">
                <a:latin typeface="Univers" panose="020B0503020202020204" pitchFamily="34" charset="0"/>
              </a:rPr>
              <a:t>ДПП ПП «Прикладной анализ данных в экономике, финансах и управлении»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3707BE-CCAF-FBF6-FDE5-60DDA30876FA}"/>
              </a:ext>
            </a:extLst>
          </p:cNvPr>
          <p:cNvSpPr txBox="1"/>
          <p:nvPr/>
        </p:nvSpPr>
        <p:spPr>
          <a:xfrm>
            <a:off x="474406" y="1208734"/>
            <a:ext cx="94315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Univers Light" panose="020B0403020202020204" pitchFamily="34" charset="0"/>
              </a:rPr>
              <a:t>Первый датасет (очищенные исторические данные):</a:t>
            </a:r>
          </a:p>
          <a:p>
            <a:r>
              <a:rPr lang="ru-RU" dirty="0">
                <a:latin typeface="Univers Light" panose="020B0403020202020204" pitchFamily="34" charset="0"/>
              </a:rPr>
              <a:t>Имя файла</a:t>
            </a:r>
            <a:r>
              <a:rPr lang="ru-RU" b="1" dirty="0">
                <a:latin typeface="Univers Light" panose="020B0403020202020204" pitchFamily="34" charset="0"/>
              </a:rPr>
              <a:t>: dataset1_cleaned_budget_revenues.csv</a:t>
            </a:r>
          </a:p>
          <a:p>
            <a:r>
              <a:rPr lang="ru-RU" dirty="0">
                <a:latin typeface="Univers Light" panose="020B0403020202020204" pitchFamily="34" charset="0"/>
              </a:rPr>
              <a:t>Содержание: </a:t>
            </a:r>
            <a:r>
              <a:rPr lang="ru-RU" b="1" dirty="0">
                <a:latin typeface="Univers Light" panose="020B0403020202020204" pitchFamily="34" charset="0"/>
              </a:rPr>
              <a:t>детальные поквартальные данные о доходах бюджета Москвы по видам доходов </a:t>
            </a:r>
            <a:r>
              <a:rPr lang="ru-RU" dirty="0">
                <a:latin typeface="Univers Light" panose="020B0403020202020204" pitchFamily="34" charset="0"/>
              </a:rPr>
              <a:t>(налоги, штрафы, аренда и др.) за период с 1 квартала 2024 по 2 квартал 2026</a:t>
            </a:r>
          </a:p>
          <a:p>
            <a:r>
              <a:rPr lang="ru-RU" dirty="0">
                <a:latin typeface="Univers Light" panose="020B0403020202020204" pitchFamily="34" charset="0"/>
              </a:rPr>
              <a:t>Объём: </a:t>
            </a:r>
            <a:r>
              <a:rPr lang="ru-RU" b="1" dirty="0">
                <a:latin typeface="Univers Light" panose="020B0403020202020204" pitchFamily="34" charset="0"/>
              </a:rPr>
              <a:t>702 строки, 7 столбцов </a:t>
            </a:r>
            <a:r>
              <a:rPr lang="ru-RU" dirty="0">
                <a:latin typeface="Univers Light" panose="020B0403020202020204" pitchFamily="34" charset="0"/>
              </a:rPr>
              <a:t>(</a:t>
            </a:r>
            <a:r>
              <a:rPr lang="ru-RU" dirty="0" err="1">
                <a:latin typeface="Univers Light" panose="020B0403020202020204" pitchFamily="34" charset="0"/>
              </a:rPr>
              <a:t>Revenue</a:t>
            </a:r>
            <a:r>
              <a:rPr lang="ru-RU" dirty="0">
                <a:latin typeface="Univers Light" panose="020B0403020202020204" pitchFamily="34" charset="0"/>
              </a:rPr>
              <a:t> </a:t>
            </a:r>
            <a:r>
              <a:rPr lang="ru-RU" dirty="0" err="1">
                <a:latin typeface="Univers Light" panose="020B0403020202020204" pitchFamily="34" charset="0"/>
              </a:rPr>
              <a:t>type</a:t>
            </a:r>
            <a:r>
              <a:rPr lang="ru-RU" dirty="0">
                <a:latin typeface="Univers Light" panose="020B0403020202020204" pitchFamily="34" charset="0"/>
              </a:rPr>
              <a:t>, </a:t>
            </a:r>
            <a:r>
              <a:rPr lang="ru-RU" dirty="0" err="1">
                <a:latin typeface="Univers Light" panose="020B0403020202020204" pitchFamily="34" charset="0"/>
              </a:rPr>
              <a:t>Date</a:t>
            </a:r>
            <a:r>
              <a:rPr lang="ru-RU" dirty="0">
                <a:latin typeface="Univers Light" panose="020B0403020202020204" pitchFamily="34" charset="0"/>
              </a:rPr>
              <a:t>, </a:t>
            </a:r>
            <a:r>
              <a:rPr lang="ru-RU" dirty="0" err="1">
                <a:latin typeface="Univers Light" panose="020B0403020202020204" pitchFamily="34" charset="0"/>
              </a:rPr>
              <a:t>Planned</a:t>
            </a:r>
            <a:r>
              <a:rPr lang="ru-RU" dirty="0">
                <a:latin typeface="Univers Light" panose="020B0403020202020204" pitchFamily="34" charset="0"/>
              </a:rPr>
              <a:t> </a:t>
            </a:r>
            <a:r>
              <a:rPr lang="ru-RU" dirty="0" err="1">
                <a:latin typeface="Univers Light" panose="020B0403020202020204" pitchFamily="34" charset="0"/>
              </a:rPr>
              <a:t>revenue</a:t>
            </a:r>
            <a:r>
              <a:rPr lang="ru-RU" dirty="0">
                <a:latin typeface="Univers Light" panose="020B0403020202020204" pitchFamily="34" charset="0"/>
              </a:rPr>
              <a:t> </a:t>
            </a:r>
            <a:r>
              <a:rPr lang="ru-RU" dirty="0" err="1">
                <a:latin typeface="Univers Light" panose="020B0403020202020204" pitchFamily="34" charset="0"/>
              </a:rPr>
              <a:t>volume</a:t>
            </a:r>
            <a:r>
              <a:rPr lang="ru-RU" dirty="0">
                <a:latin typeface="Univers Light" panose="020B0403020202020204" pitchFamily="34" charset="0"/>
              </a:rPr>
              <a:t>, </a:t>
            </a:r>
            <a:r>
              <a:rPr lang="ru-RU" dirty="0" err="1">
                <a:latin typeface="Univers Light" panose="020B0403020202020204" pitchFamily="34" charset="0"/>
              </a:rPr>
              <a:t>Actual</a:t>
            </a:r>
            <a:r>
              <a:rPr lang="ru-RU" dirty="0">
                <a:latin typeface="Univers Light" panose="020B0403020202020204" pitchFamily="34" charset="0"/>
              </a:rPr>
              <a:t> </a:t>
            </a:r>
            <a:r>
              <a:rPr lang="ru-RU" dirty="0" err="1">
                <a:latin typeface="Univers Light" panose="020B0403020202020204" pitchFamily="34" charset="0"/>
              </a:rPr>
              <a:t>revenue</a:t>
            </a:r>
            <a:r>
              <a:rPr lang="ru-RU" dirty="0">
                <a:latin typeface="Univers Light" panose="020B0403020202020204" pitchFamily="34" charset="0"/>
              </a:rPr>
              <a:t> </a:t>
            </a:r>
            <a:r>
              <a:rPr lang="ru-RU" dirty="0" err="1">
                <a:latin typeface="Univers Light" panose="020B0403020202020204" pitchFamily="34" charset="0"/>
              </a:rPr>
              <a:t>volume</a:t>
            </a:r>
            <a:r>
              <a:rPr lang="ru-RU" dirty="0">
                <a:latin typeface="Univers Light" panose="020B0403020202020204" pitchFamily="34" charset="0"/>
              </a:rPr>
              <a:t>, </a:t>
            </a:r>
            <a:r>
              <a:rPr lang="ru-RU" dirty="0" err="1">
                <a:latin typeface="Univers Light" panose="020B0403020202020204" pitchFamily="34" charset="0"/>
              </a:rPr>
              <a:t>Revenue</a:t>
            </a:r>
            <a:r>
              <a:rPr lang="ru-RU" dirty="0">
                <a:latin typeface="Univers Light" panose="020B0403020202020204" pitchFamily="34" charset="0"/>
              </a:rPr>
              <a:t> </a:t>
            </a:r>
            <a:r>
              <a:rPr lang="ru-RU" dirty="0" err="1">
                <a:latin typeface="Univers Light" panose="020B0403020202020204" pitchFamily="34" charset="0"/>
              </a:rPr>
              <a:t>completion</a:t>
            </a:r>
            <a:r>
              <a:rPr lang="ru-RU" dirty="0">
                <a:latin typeface="Univers Light" panose="020B0403020202020204" pitchFamily="34" charset="0"/>
              </a:rPr>
              <a:t> </a:t>
            </a:r>
            <a:r>
              <a:rPr lang="ru-RU" dirty="0" err="1">
                <a:latin typeface="Univers Light" panose="020B0403020202020204" pitchFamily="34" charset="0"/>
              </a:rPr>
              <a:t>rate</a:t>
            </a:r>
            <a:r>
              <a:rPr lang="ru-RU" dirty="0">
                <a:latin typeface="Univers Light" panose="020B0403020202020204" pitchFamily="34" charset="0"/>
              </a:rPr>
              <a:t>, </a:t>
            </a:r>
            <a:r>
              <a:rPr lang="ru-RU" dirty="0" err="1">
                <a:latin typeface="Univers Light" panose="020B0403020202020204" pitchFamily="34" charset="0"/>
              </a:rPr>
              <a:t>global_id</a:t>
            </a:r>
            <a:r>
              <a:rPr lang="ru-RU" dirty="0">
                <a:latin typeface="Univers Light" panose="020B0403020202020204" pitchFamily="34" charset="0"/>
              </a:rPr>
              <a:t>, </a:t>
            </a:r>
            <a:r>
              <a:rPr lang="ru-RU" dirty="0" err="1">
                <a:latin typeface="Univers Light" panose="020B0403020202020204" pitchFamily="34" charset="0"/>
              </a:rPr>
              <a:t>Quarter</a:t>
            </a:r>
            <a:r>
              <a:rPr lang="ru-RU" dirty="0">
                <a:latin typeface="Univers Light" panose="020B0403020202020204" pitchFamily="34" charset="0"/>
              </a:rPr>
              <a:t>)</a:t>
            </a:r>
          </a:p>
          <a:p>
            <a:r>
              <a:rPr lang="ru-RU" dirty="0">
                <a:latin typeface="Univers Light" panose="020B0403020202020204" pitchFamily="34" charset="0"/>
              </a:rPr>
              <a:t>Применение: может использоваться для </a:t>
            </a:r>
            <a:r>
              <a:rPr lang="ru-RU" b="1" dirty="0">
                <a:latin typeface="Univers Light" panose="020B0403020202020204" pitchFamily="34" charset="0"/>
              </a:rPr>
              <a:t>мониторинга исполнения бюджета, построения отчётов, дальнейшего анализа и обучения моделей</a:t>
            </a:r>
            <a:endParaRPr lang="en-US" b="1" dirty="0">
              <a:latin typeface="Univers Light" panose="020B04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587513-78F8-0386-0E1F-D6F4B25624A1}"/>
              </a:ext>
            </a:extLst>
          </p:cNvPr>
          <p:cNvSpPr txBox="1"/>
          <p:nvPr/>
        </p:nvSpPr>
        <p:spPr>
          <a:xfrm>
            <a:off x="508819" y="777847"/>
            <a:ext cx="7108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accent2">
                    <a:lumMod val="75000"/>
                  </a:schemeClr>
                </a:solidFill>
                <a:latin typeface="Univers" panose="020B0503020202020204" pitchFamily="34" charset="0"/>
              </a:rPr>
              <a:t>– два датасета в формате CSV, готовых к использованию.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0B8611-64F0-6431-C5EA-F36030BE7C7B}"/>
              </a:ext>
            </a:extLst>
          </p:cNvPr>
          <p:cNvSpPr txBox="1"/>
          <p:nvPr/>
        </p:nvSpPr>
        <p:spPr>
          <a:xfrm>
            <a:off x="474406" y="3733800"/>
            <a:ext cx="94315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Univers Light" panose="020B0403020202020204" pitchFamily="34" charset="0"/>
              </a:rPr>
              <a:t>Второй датасет (прогнозный продукт):</a:t>
            </a:r>
          </a:p>
          <a:p>
            <a:r>
              <a:rPr lang="ru-RU" dirty="0">
                <a:solidFill>
                  <a:schemeClr val="bg1"/>
                </a:solidFill>
                <a:latin typeface="Univers Light" panose="020B0403020202020204" pitchFamily="34" charset="0"/>
              </a:rPr>
              <a:t>Имя файла: </a:t>
            </a:r>
            <a:r>
              <a:rPr lang="ru-RU" b="1" dirty="0">
                <a:solidFill>
                  <a:schemeClr val="bg1"/>
                </a:solidFill>
                <a:latin typeface="Univers Light" panose="020B0403020202020204" pitchFamily="34" charset="0"/>
              </a:rPr>
              <a:t>dataset2_revenue_forecast.csv</a:t>
            </a:r>
          </a:p>
          <a:p>
            <a:r>
              <a:rPr lang="ru-RU" dirty="0">
                <a:solidFill>
                  <a:schemeClr val="bg1"/>
                </a:solidFill>
                <a:latin typeface="Univers Light" panose="020B0403020202020204" pitchFamily="34" charset="0"/>
              </a:rPr>
              <a:t>Содержание: </a:t>
            </a:r>
            <a:r>
              <a:rPr lang="ru-RU" b="1" dirty="0">
                <a:solidFill>
                  <a:schemeClr val="bg1"/>
                </a:solidFill>
                <a:latin typeface="Univers Light" panose="020B0403020202020204" pitchFamily="34" charset="0"/>
              </a:rPr>
              <a:t>прогноз суммарных доходов бюджета на четыре квартала вперёд (с Q3 2026 по Q2 2027) с доверительными интервалами</a:t>
            </a:r>
          </a:p>
          <a:p>
            <a:r>
              <a:rPr lang="ru-RU" dirty="0">
                <a:solidFill>
                  <a:schemeClr val="bg1"/>
                </a:solidFill>
                <a:latin typeface="Univers Light" panose="020B0403020202020204" pitchFamily="34" charset="0"/>
              </a:rPr>
              <a:t>Объём: </a:t>
            </a:r>
            <a:r>
              <a:rPr lang="ru-RU" b="1" dirty="0">
                <a:solidFill>
                  <a:schemeClr val="bg1"/>
                </a:solidFill>
                <a:latin typeface="Univers Light" panose="020B0403020202020204" pitchFamily="34" charset="0"/>
              </a:rPr>
              <a:t>4 строки, 6 столбцов </a:t>
            </a:r>
            <a:r>
              <a:rPr lang="ru-RU" dirty="0">
                <a:solidFill>
                  <a:schemeClr val="bg1"/>
                </a:solidFill>
                <a:latin typeface="Univers Light" panose="020B0403020202020204" pitchFamily="34" charset="0"/>
              </a:rPr>
              <a:t>(</a:t>
            </a:r>
            <a:r>
              <a:rPr lang="ru-RU" dirty="0" err="1">
                <a:solidFill>
                  <a:schemeClr val="bg1"/>
                </a:solidFill>
                <a:latin typeface="Univers Light" panose="020B0403020202020204" pitchFamily="34" charset="0"/>
              </a:rPr>
              <a:t>Date</a:t>
            </a:r>
            <a:r>
              <a:rPr lang="ru-RU" dirty="0">
                <a:solidFill>
                  <a:schemeClr val="bg1"/>
                </a:solidFill>
                <a:latin typeface="Univers Light" panose="020B0403020202020204" pitchFamily="34" charset="0"/>
              </a:rPr>
              <a:t>, </a:t>
            </a:r>
            <a:r>
              <a:rPr lang="ru-RU" dirty="0" err="1">
                <a:solidFill>
                  <a:schemeClr val="bg1"/>
                </a:solidFill>
                <a:latin typeface="Univers Light" panose="020B0403020202020204" pitchFamily="34" charset="0"/>
              </a:rPr>
              <a:t>Revenue_type</a:t>
            </a:r>
            <a:r>
              <a:rPr lang="ru-RU" dirty="0">
                <a:solidFill>
                  <a:schemeClr val="bg1"/>
                </a:solidFill>
                <a:latin typeface="Univers Light" panose="020B0403020202020204" pitchFamily="34" charset="0"/>
              </a:rPr>
              <a:t>, </a:t>
            </a:r>
            <a:r>
              <a:rPr lang="ru-RU" dirty="0" err="1">
                <a:solidFill>
                  <a:schemeClr val="bg1"/>
                </a:solidFill>
                <a:latin typeface="Univers Light" panose="020B0403020202020204" pitchFamily="34" charset="0"/>
              </a:rPr>
              <a:t>Predicted_actual_volume</a:t>
            </a:r>
            <a:r>
              <a:rPr lang="ru-RU" dirty="0">
                <a:solidFill>
                  <a:schemeClr val="bg1"/>
                </a:solidFill>
                <a:latin typeface="Univers Light" panose="020B0403020202020204" pitchFamily="34" charset="0"/>
              </a:rPr>
              <a:t>, Lower_bound_90%, Upper_bound_90%, </a:t>
            </a:r>
            <a:r>
              <a:rPr lang="ru-RU" dirty="0" err="1">
                <a:solidFill>
                  <a:schemeClr val="bg1"/>
                </a:solidFill>
                <a:latin typeface="Univers Light" panose="020B0403020202020204" pitchFamily="34" charset="0"/>
              </a:rPr>
              <a:t>Model_used</a:t>
            </a:r>
            <a:r>
              <a:rPr lang="ru-RU" dirty="0">
                <a:solidFill>
                  <a:schemeClr val="bg1"/>
                </a:solidFill>
                <a:latin typeface="Univers Light" panose="020B0403020202020204" pitchFamily="34" charset="0"/>
              </a:rPr>
              <a:t>)</a:t>
            </a:r>
          </a:p>
          <a:p>
            <a:r>
              <a:rPr lang="ru-RU" dirty="0">
                <a:solidFill>
                  <a:schemeClr val="bg1"/>
                </a:solidFill>
                <a:latin typeface="Univers Light" panose="020B0403020202020204" pitchFamily="34" charset="0"/>
              </a:rPr>
              <a:t>Применение: может быть передан финансовым органам для </a:t>
            </a:r>
            <a:r>
              <a:rPr lang="ru-RU" b="1" dirty="0">
                <a:solidFill>
                  <a:schemeClr val="bg1"/>
                </a:solidFill>
                <a:latin typeface="Univers Light" panose="020B0403020202020204" pitchFamily="34" charset="0"/>
              </a:rPr>
              <a:t>среднесрочного планирования, оценки ожидаемых поступлений и предотвращения кассовых разрывов</a:t>
            </a:r>
            <a:endParaRPr lang="en-US" b="1" dirty="0">
              <a:solidFill>
                <a:schemeClr val="bg1"/>
              </a:solidFill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542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0A568-2C98-46B4-7551-6D6F1F8BC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3DB8610-EE09-2999-79F4-A160FAC53D1F}"/>
              </a:ext>
            </a:extLst>
          </p:cNvPr>
          <p:cNvSpPr/>
          <p:nvPr/>
        </p:nvSpPr>
        <p:spPr>
          <a:xfrm>
            <a:off x="0" y="2246391"/>
            <a:ext cx="12192000" cy="341425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Заголовок 5">
            <a:extLst>
              <a:ext uri="{FF2B5EF4-FFF2-40B4-BE49-F238E27FC236}">
                <a16:creationId xmlns:a16="http://schemas.microsoft.com/office/drawing/2014/main" id="{0D9C11B6-601A-69F3-36B0-C73F4AC9D344}"/>
              </a:ext>
            </a:extLst>
          </p:cNvPr>
          <p:cNvSpPr txBox="1">
            <a:spLocks/>
          </p:cNvSpPr>
          <p:nvPr/>
        </p:nvSpPr>
        <p:spPr>
          <a:xfrm>
            <a:off x="533400" y="346960"/>
            <a:ext cx="79248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r>
              <a:rPr lang="ru-RU" sz="2800" dirty="0">
                <a:latin typeface="Univers" panose="020B0503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Продуктовый результат</a:t>
            </a:r>
            <a:endParaRPr lang="ru-RU" sz="2800" kern="0" dirty="0">
              <a:latin typeface="Univers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Заголовок 5">
            <a:extLst>
              <a:ext uri="{FF2B5EF4-FFF2-40B4-BE49-F238E27FC236}">
                <a16:creationId xmlns:a16="http://schemas.microsoft.com/office/drawing/2014/main" id="{0577E4DA-2665-759D-29E3-BA7F7D1404D6}"/>
              </a:ext>
            </a:extLst>
          </p:cNvPr>
          <p:cNvSpPr txBox="1">
            <a:spLocks/>
          </p:cNvSpPr>
          <p:nvPr/>
        </p:nvSpPr>
        <p:spPr>
          <a:xfrm>
            <a:off x="8229600" y="235232"/>
            <a:ext cx="3787124" cy="962120"/>
          </a:xfrm>
          <a:prstGeom prst="roundRect">
            <a:avLst>
              <a:gd name="adj" fmla="val 22536"/>
            </a:avLst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ru-RU" sz="1800" dirty="0">
                <a:latin typeface="Univers" panose="020B0503020202020204" pitchFamily="34" charset="0"/>
              </a:rPr>
              <a:t>ДПП ПП «Прикладной анализ данных в экономике, финансах и управлении»</a:t>
            </a:r>
          </a:p>
        </p:txBody>
      </p:sp>
      <p:sp>
        <p:nvSpPr>
          <p:cNvPr id="4" name="TextBox 3">
            <a:hlinkClick r:id="rId2"/>
            <a:extLst>
              <a:ext uri="{FF2B5EF4-FFF2-40B4-BE49-F238E27FC236}">
                <a16:creationId xmlns:a16="http://schemas.microsoft.com/office/drawing/2014/main" id="{A35DA0C7-5A81-57BC-561F-F94674DA9787}"/>
              </a:ext>
            </a:extLst>
          </p:cNvPr>
          <p:cNvSpPr txBox="1"/>
          <p:nvPr/>
        </p:nvSpPr>
        <p:spPr>
          <a:xfrm>
            <a:off x="533400" y="1537205"/>
            <a:ext cx="9431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Univers" panose="020B0503020202020204" pitchFamily="34" charset="0"/>
                <a:hlinkClick r:id="rId2"/>
              </a:rPr>
              <a:t>budget-revenues-analysis/README.md at main · </a:t>
            </a:r>
            <a:r>
              <a:rPr lang="en-US" b="1" dirty="0" err="1">
                <a:latin typeface="Univers" panose="020B0503020202020204" pitchFamily="34" charset="0"/>
                <a:hlinkClick r:id="rId2"/>
              </a:rPr>
              <a:t>vikssssa</a:t>
            </a:r>
            <a:r>
              <a:rPr lang="en-US" b="1" dirty="0">
                <a:latin typeface="Univers" panose="020B0503020202020204" pitchFamily="34" charset="0"/>
                <a:hlinkClick r:id="rId2"/>
              </a:rPr>
              <a:t>/budget-revenues-analysis</a:t>
            </a:r>
            <a:endParaRPr lang="en-US" b="1" dirty="0">
              <a:latin typeface="Univers" panose="020B05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255279-2FFA-6AC8-B790-5D0A4D26F30D}"/>
              </a:ext>
            </a:extLst>
          </p:cNvPr>
          <p:cNvSpPr txBox="1"/>
          <p:nvPr/>
        </p:nvSpPr>
        <p:spPr>
          <a:xfrm>
            <a:off x="533400" y="1197352"/>
            <a:ext cx="71087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>
                <a:solidFill>
                  <a:schemeClr val="accent2">
                    <a:lumMod val="75000"/>
                  </a:schemeClr>
                </a:solidFill>
                <a:latin typeface="Univers" panose="020B0503020202020204" pitchFamily="34" charset="0"/>
              </a:rPr>
              <a:t>Код и данные проекта опубликованы на GitHub</a:t>
            </a:r>
            <a:endParaRPr lang="ru-RU" b="1" dirty="0">
              <a:solidFill>
                <a:schemeClr val="accent2">
                  <a:lumMod val="75000"/>
                </a:schemeClr>
              </a:solidFill>
              <a:latin typeface="Univers" panose="020B0503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7C26DB-05DF-ECAD-7A8C-84A8CB410E13}"/>
              </a:ext>
            </a:extLst>
          </p:cNvPr>
          <p:cNvSpPr txBox="1"/>
          <p:nvPr/>
        </p:nvSpPr>
        <p:spPr>
          <a:xfrm>
            <a:off x="526026" y="2438400"/>
            <a:ext cx="1052297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4">
                    <a:lumMod val="50000"/>
                  </a:schemeClr>
                </a:solidFill>
                <a:latin typeface="Univers Light" panose="020B0403020202020204" pitchFamily="34" charset="0"/>
              </a:rPr>
              <a:t>Репозиторий содержит: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bg1"/>
                </a:solidFill>
                <a:latin typeface="Univers Light" panose="020B0403020202020204" pitchFamily="34" charset="0"/>
              </a:rPr>
              <a:t>Исходный датасет: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Univers Light" panose="020B0403020202020204" pitchFamily="34" charset="0"/>
              </a:rPr>
              <a:t>data-64050-03-04-2026.csv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bg1"/>
                </a:solidFill>
                <a:latin typeface="Univers Light" panose="020B0403020202020204" pitchFamily="34" charset="0"/>
              </a:rPr>
              <a:t>Очищенный датасет №1: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Univers Light" panose="020B0403020202020204" pitchFamily="34" charset="0"/>
              </a:rPr>
              <a:t>dataset1_cleaned_budget_revenues.csv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bg1"/>
                </a:solidFill>
                <a:latin typeface="Univers Light" panose="020B0403020202020204" pitchFamily="34" charset="0"/>
              </a:rPr>
              <a:t>Прогнозный датасет №2: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Univers Light" panose="020B0403020202020204" pitchFamily="34" charset="0"/>
              </a:rPr>
              <a:t>dataset2_revenue_forecast.csv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Univers Light" panose="020B0403020202020204" pitchFamily="34" charset="0"/>
              </a:rPr>
              <a:t>Jupyter</a:t>
            </a:r>
            <a:r>
              <a:rPr lang="en-US" sz="2000" b="1" dirty="0">
                <a:solidFill>
                  <a:schemeClr val="bg1"/>
                </a:solidFill>
                <a:latin typeface="Univers Light" panose="020B0403020202020204" pitchFamily="34" charset="0"/>
              </a:rPr>
              <a:t> Notebook </a:t>
            </a:r>
            <a:r>
              <a:rPr lang="ru-RU" sz="2000" b="1" dirty="0">
                <a:solidFill>
                  <a:schemeClr val="bg1"/>
                </a:solidFill>
                <a:latin typeface="Univers Light" panose="020B0403020202020204" pitchFamily="34" charset="0"/>
              </a:rPr>
              <a:t>с полным кодом (загрузка, очистка, анализ, модель, прогноз)</a:t>
            </a:r>
            <a:endParaRPr lang="en-US" sz="2000" b="1" dirty="0">
              <a:solidFill>
                <a:schemeClr val="bg1"/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bg1"/>
                </a:solidFill>
                <a:latin typeface="Univers Light" panose="020B0403020202020204" pitchFamily="34" charset="0"/>
              </a:rPr>
              <a:t>Файл </a:t>
            </a:r>
            <a:r>
              <a:rPr lang="en-US" sz="2000" b="1" dirty="0">
                <a:solidFill>
                  <a:schemeClr val="bg1"/>
                </a:solidFill>
                <a:latin typeface="Univers Light" panose="020B0403020202020204" pitchFamily="34" charset="0"/>
              </a:rPr>
              <a:t>README.md </a:t>
            </a:r>
            <a:r>
              <a:rPr lang="ru-RU" sz="2000" b="1" dirty="0">
                <a:solidFill>
                  <a:schemeClr val="bg1"/>
                </a:solidFill>
                <a:latin typeface="Univers Light" panose="020B0403020202020204" pitchFamily="34" charset="0"/>
              </a:rPr>
              <a:t>с описанием проекта и инструкцией по запуску</a:t>
            </a:r>
          </a:p>
          <a:p>
            <a:endParaRPr lang="ru-RU" sz="2000" b="1" dirty="0">
              <a:solidFill>
                <a:schemeClr val="accent4">
                  <a:lumMod val="75000"/>
                </a:schemeClr>
              </a:solidFill>
              <a:latin typeface="Univers Light" panose="020B0403020202020204" pitchFamily="34" charset="0"/>
            </a:endParaRPr>
          </a:p>
          <a:p>
            <a:r>
              <a:rPr lang="ru-RU" sz="2000" b="1" dirty="0">
                <a:solidFill>
                  <a:schemeClr val="accent4">
                    <a:lumMod val="75000"/>
                  </a:schemeClr>
                </a:solidFill>
                <a:latin typeface="Univers Light" panose="020B0403020202020204" pitchFamily="34" charset="0"/>
              </a:rPr>
              <a:t>Преимущества: Прозрачность, воспроизводимость результатов, возможность проверить код преподавателем.</a:t>
            </a:r>
          </a:p>
        </p:txBody>
      </p:sp>
    </p:spTree>
    <p:extLst>
      <p:ext uri="{BB962C8B-B14F-4D97-AF65-F5344CB8AC3E}">
        <p14:creationId xmlns:p14="http://schemas.microsoft.com/office/powerpoint/2010/main" val="1469093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70D1B-1637-4668-18B1-2BAA11CE5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570F3A5-A80A-004D-DA1E-B6DFB075950B}"/>
              </a:ext>
            </a:extLst>
          </p:cNvPr>
          <p:cNvSpPr/>
          <p:nvPr/>
        </p:nvSpPr>
        <p:spPr>
          <a:xfrm>
            <a:off x="0" y="1676400"/>
            <a:ext cx="12192000" cy="39842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CD1BF939-47AA-E1DB-AFA2-B93D6F4C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70070"/>
            <a:ext cx="7924800" cy="492443"/>
          </a:xfrm>
        </p:spPr>
        <p:txBody>
          <a:bodyPr/>
          <a:lstStyle/>
          <a:p>
            <a:r>
              <a:rPr lang="ru-RU" sz="3200" dirty="0">
                <a:latin typeface="Univers" panose="020B0503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Вклад каждого участника команды</a:t>
            </a:r>
            <a:endParaRPr lang="ru-RU" sz="3200" dirty="0">
              <a:latin typeface="Univers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9F13E89F-E008-9EB1-FE70-6F3411247F5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33400" y="1940736"/>
            <a:ext cx="11471034" cy="3323987"/>
          </a:xfrm>
        </p:spPr>
        <p:txBody>
          <a:bodyPr/>
          <a:lstStyle/>
          <a:p>
            <a:r>
              <a:rPr lang="ru-RU" b="1" dirty="0">
                <a:solidFill>
                  <a:schemeClr val="accent2">
                    <a:lumMod val="75000"/>
                  </a:schemeClr>
                </a:solidFill>
                <a:latin typeface="Univers" panose="020B0503020202020204" pitchFamily="34" charset="0"/>
              </a:rPr>
              <a:t>Каменская Виктория Артуровна: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Univers Light" panose="020B0403020202020204" pitchFamily="34" charset="0"/>
              </a:rPr>
              <a:t>Загрузка и первичный анализ исходного датасета (файл data-64050-03-04-2026.csv).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Univers Light" panose="020B0403020202020204" pitchFamily="34" charset="0"/>
              </a:rPr>
              <a:t>Предобработка данных: удаление служебных строк, очистка числовых значений от буквенных окончаний, приведение типов, преобразование дат, добавление столбца «</a:t>
            </a:r>
            <a:r>
              <a:rPr lang="ru-RU" dirty="0" err="1">
                <a:latin typeface="Univers Light" panose="020B0403020202020204" pitchFamily="34" charset="0"/>
              </a:rPr>
              <a:t>Quarter</a:t>
            </a:r>
            <a:r>
              <a:rPr lang="ru-RU" dirty="0">
                <a:latin typeface="Univers Light" panose="020B0403020202020204" pitchFamily="34" charset="0"/>
              </a:rPr>
              <a:t>».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Univers Light" panose="020B0403020202020204" pitchFamily="34" charset="0"/>
              </a:rPr>
              <a:t>Исследовательский анализ данных: расчёт корреляции план–факт, построение топ‑10 детальных видов доходов, визуализация динамики суммарных доходов, выявление сезонности и тренда.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Univers Light" panose="020B0403020202020204" pitchFamily="34" charset="0"/>
              </a:rPr>
              <a:t>Агрегирование данных для построения временного ряда суммарных доходов.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Univers Light" panose="020B0403020202020204" pitchFamily="34" charset="0"/>
              </a:rPr>
              <a:t>Выбор и обоснование метода прогнозирования (наивный сезонный метод) ввиду малого объёма данных.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Univers Light" panose="020B0403020202020204" pitchFamily="34" charset="0"/>
              </a:rPr>
              <a:t>Построение прогноза на 4 квартала вперёд, расчёт метрики MAPE (4,01%).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Univers Light" panose="020B0403020202020204" pitchFamily="34" charset="0"/>
              </a:rPr>
              <a:t>Формирование двух итоговых датасетов: dataset1_cleaned_budget_revenues.csv (702 строки, 7 столбцов) и dataset2_revenue_forecast.csv (4 строки, 6 столбцов).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Univers Light" panose="020B0403020202020204" pitchFamily="34" charset="0"/>
              </a:rPr>
              <a:t>Оформление кода, выводов и презентации.</a:t>
            </a:r>
          </a:p>
        </p:txBody>
      </p:sp>
      <p:sp>
        <p:nvSpPr>
          <p:cNvPr id="2" name="Заголовок 5">
            <a:extLst>
              <a:ext uri="{FF2B5EF4-FFF2-40B4-BE49-F238E27FC236}">
                <a16:creationId xmlns:a16="http://schemas.microsoft.com/office/drawing/2014/main" id="{F4E4CABE-2708-3D35-55A4-8CAB12E3DFD4}"/>
              </a:ext>
            </a:extLst>
          </p:cNvPr>
          <p:cNvSpPr txBox="1">
            <a:spLocks/>
          </p:cNvSpPr>
          <p:nvPr/>
        </p:nvSpPr>
        <p:spPr>
          <a:xfrm>
            <a:off x="8229600" y="235232"/>
            <a:ext cx="3787124" cy="962120"/>
          </a:xfrm>
          <a:prstGeom prst="roundRect">
            <a:avLst>
              <a:gd name="adj" fmla="val 22536"/>
            </a:avLst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wrap="square" lIns="91440" tIns="45720" rIns="91440" bIns="4572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ru-RU" sz="1800" dirty="0">
                <a:latin typeface="Univers" panose="020B0503020202020204" pitchFamily="34" charset="0"/>
              </a:rPr>
              <a:t>ДПП ПП «Прикладной анализ данных в экономике, финансах и управлении»</a:t>
            </a:r>
          </a:p>
        </p:txBody>
      </p:sp>
    </p:spTree>
    <p:extLst>
      <p:ext uri="{BB962C8B-B14F-4D97-AF65-F5344CB8AC3E}">
        <p14:creationId xmlns:p14="http://schemas.microsoft.com/office/powerpoint/2010/main" val="232006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4422</TotalTime>
  <Words>1370</Words>
  <Application>Microsoft Office PowerPoint</Application>
  <PresentationFormat>Широкоэкранный</PresentationFormat>
  <Paragraphs>123</Paragraphs>
  <Slides>12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Aptos</vt:lpstr>
      <vt:lpstr>Arial</vt:lpstr>
      <vt:lpstr>Arial Black</vt:lpstr>
      <vt:lpstr>Calibri</vt:lpstr>
      <vt:lpstr>Tahoma</vt:lpstr>
      <vt:lpstr>Univers</vt:lpstr>
      <vt:lpstr>Univers Light</vt:lpstr>
      <vt:lpstr>Office Theme</vt:lpstr>
      <vt:lpstr>Итоговый проект  по дополнительной профессиональной программе переподготовки «Прикладной анализ данных  в экономике, финансах и управлении»</vt:lpstr>
      <vt:lpstr>Датасет 1 - Краткая характеристика предметной области, постановка задачи исследовательского анализа данных в предметной области</vt:lpstr>
      <vt:lpstr>Датасет 1 - Примененные в ходе выполнения проекта инструменты исследовательского анализа данных</vt:lpstr>
      <vt:lpstr>Презентация PowerPoint</vt:lpstr>
      <vt:lpstr>Датасет 1 - Выводы о практической значимости полученных результатов, что еще можно сделать</vt:lpstr>
      <vt:lpstr>Датасет 2 - Краткая характеристика предметной области, постановка задачи интеллектуального анализа данных в предметной области</vt:lpstr>
      <vt:lpstr>Датасет 2 - Примененные в ходе выполнения проекта инструменты и методы интеллектуального анализа данных</vt:lpstr>
      <vt:lpstr>Презентация PowerPoint</vt:lpstr>
      <vt:lpstr>Датасет 2 - Выводы о практической значимости полученных результатов, что еще можно сделать</vt:lpstr>
      <vt:lpstr>Презентация PowerPoint</vt:lpstr>
      <vt:lpstr>Презентация PowerPoint</vt:lpstr>
      <vt:lpstr>Вклад каждого участника команды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Структура доклада и требования к презентации  университета</dc:title>
  <dc:creator>Целых Алексей Александрович</dc:creator>
  <cp:lastModifiedBy>Каменская Виктория Артуровна</cp:lastModifiedBy>
  <cp:revision>36</cp:revision>
  <cp:lastPrinted>2023-01-12T12:05:49Z</cp:lastPrinted>
  <dcterms:created xsi:type="dcterms:W3CDTF">2022-10-13T15:52:47Z</dcterms:created>
  <dcterms:modified xsi:type="dcterms:W3CDTF">2026-05-31T15:50:36Z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2022-10-13T00:00:00Z</vt:filetime>
  </property>
  <property fmtid="{D5CDD505-2E9C-101B-9397-08002B2CF9AE}" pid="3" name="LastSaved">
    <vt:filetime>2022-10-13T00:00:00Z</vt:filetime>
  </property>
</Properties>
</file>